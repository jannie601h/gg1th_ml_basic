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69" r:id="rId4"/>
    <p:sldId id="260" r:id="rId5"/>
    <p:sldId id="272" r:id="rId6"/>
    <p:sldId id="271" r:id="rId7"/>
    <p:sldId id="263" r:id="rId8"/>
    <p:sldId id="264" r:id="rId9"/>
    <p:sldId id="25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Test RMSE</c:v>
          </c:tx>
          <c:invertIfNegative val="1"/>
          <c:dPt>
            <c:idx val="0"/>
            <c:invertIfNegative val="1"/>
            <c:bubble3D val="0"/>
            <c:spPr>
              <a:solidFill>
                <a:srgbClr val="95A2A8"/>
              </a:solidFill>
            </c:spPr>
            <c:extLst>
              <c:ext xmlns:c16="http://schemas.microsoft.com/office/drawing/2014/chart" uri="{C3380CC4-5D6E-409C-BE32-E72D297353CC}">
                <c16:uniqueId val="{00000001-8380-4844-B713-DCE587920546}"/>
              </c:ext>
            </c:extLst>
          </c:dPt>
          <c:dPt>
            <c:idx val="1"/>
            <c:invertIfNegative val="1"/>
            <c:bubble3D val="0"/>
            <c:spPr>
              <a:solidFill>
                <a:srgbClr val="18BC88"/>
              </a:solidFill>
            </c:spPr>
            <c:extLst>
              <c:ext xmlns:c16="http://schemas.microsoft.com/office/drawing/2014/chart" uri="{C3380CC4-5D6E-409C-BE32-E72D297353CC}">
                <c16:uniqueId val="{00000003-8380-4844-B713-DCE587920546}"/>
              </c:ext>
            </c:extLst>
          </c:dPt>
          <c:dPt>
            <c:idx val="2"/>
            <c:invertIfNegative val="1"/>
            <c:bubble3D val="0"/>
            <c:spPr>
              <a:solidFill>
                <a:srgbClr val="2F6BE8"/>
              </a:solidFill>
            </c:spPr>
            <c:extLst>
              <c:ext xmlns:c16="http://schemas.microsoft.com/office/drawing/2014/chart" uri="{C3380CC4-5D6E-409C-BE32-E72D297353CC}">
                <c16:uniqueId val="{00000005-8380-4844-B713-DCE587920546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Linear</c:v>
              </c:pt>
              <c:pt idx="1">
                <c:v>RF</c:v>
              </c:pt>
              <c:pt idx="2">
                <c:v>XGBoost</c:v>
              </c:pt>
            </c:strLit>
          </c:cat>
          <c:val>
            <c:numLit>
              <c:formatCode>0.000</c:formatCode>
              <c:ptCount val="3"/>
              <c:pt idx="0">
                <c:v>0.997</c:v>
              </c:pt>
              <c:pt idx="1">
                <c:v>1.1930000000000001</c:v>
              </c:pt>
              <c:pt idx="2">
                <c:v>0.86599999999999999</c:v>
              </c:pt>
            </c:numLit>
          </c:val>
          <c:extLst>
            <c:ext xmlns:c16="http://schemas.microsoft.com/office/drawing/2014/chart" uri="{C3380CC4-5D6E-409C-BE32-E72D297353CC}">
              <c16:uniqueId val="{00000006-8380-4844-B713-DCE5879205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3"/>
          <c:min val="0"/>
        </c:scaling>
        <c:delete val="0"/>
        <c:axPos val="t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5F355-2B8D-4676-B7BC-62706F91B79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D03AF-6FFE-4C25-9E17-A0B865056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033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63C1DCED-1491-43C2-9BDE-4A6E846D0313}"/>
              </a:ext>
            </a:extLst>
          </p:cNvPr>
          <p:cNvSpPr/>
          <p:nvPr/>
        </p:nvSpPr>
        <p:spPr>
          <a:xfrm>
            <a:off x="8255000" y="914400"/>
            <a:ext cx="3048000" cy="3149600"/>
          </a:xfrm>
          <a:prstGeom prst="rect">
            <a:avLst/>
          </a:prstGeom>
          <a:solidFill>
            <a:srgbClr val="0A8F7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42931" y="723900"/>
            <a:ext cx="2829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2E6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 ENERGY DECISION SUPPORT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3882" y="1524000"/>
            <a:ext cx="619109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B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 Speed Advisor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61981" y="2647950"/>
            <a:ext cx="5905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5D9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전기차 에너지 효율 기반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C5D9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속도 추천 시스템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1981" y="3905250"/>
            <a:ext cx="5143371" cy="28575"/>
          </a:xfrm>
          <a:prstGeom prst="rect">
            <a:avLst/>
          </a:prstGeom>
          <a:solidFill>
            <a:srgbClr val="18D8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61981" y="4210050"/>
            <a:ext cx="5969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EAA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예측 · Tolerance 기반 최적화 · Streamlit Prototype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1981" y="6048375"/>
            <a:ext cx="2910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2E6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모델을 실제 주행 의사결정으로 확장</a:t>
            </a:r>
            <a:endParaRPr lang="en-US" sz="115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697BB3-94D1-4AA6-A14B-E3429D7E528D}"/>
              </a:ext>
            </a:extLst>
          </p:cNvPr>
          <p:cNvSpPr/>
          <p:nvPr/>
        </p:nvSpPr>
        <p:spPr>
          <a:xfrm>
            <a:off x="10744200" y="914400"/>
            <a:ext cx="558800" cy="3149600"/>
          </a:xfrm>
          <a:prstGeom prst="rect">
            <a:avLst/>
          </a:prstGeom>
          <a:solidFill>
            <a:srgbClr val="39DD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554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7684" y="457200"/>
            <a:ext cx="20429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PROBLEM DEFINITION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684" y="742950"/>
            <a:ext cx="106677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최소만으로는 현실적인 속도를 고를 수 없다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684" y="1714500"/>
            <a:ext cx="4810005" cy="3905250"/>
          </a:xfrm>
          <a:prstGeom prst="rect">
            <a:avLst/>
          </a:prstGeom>
          <a:solidFill>
            <a:srgbClr val="1023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09625" y="2076450"/>
            <a:ext cx="4086123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속도를 낮추면 효율은 좋아지지만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주행시간이 과도하게 늘어난다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9624" y="3202485"/>
            <a:ext cx="408612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8D7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차량과 도로 조건에서 최소 에너지 소비량을 크게 희생하지 않으면서, 실제 운전자가 수용할 수 있는 속도를 찾아야 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9624" y="4092527"/>
            <a:ext cx="4086123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0D5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9624" y="4337002"/>
            <a:ext cx="408612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8D7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“효율 손실을 제한하면서 얼마나 빠르게 갈 것인가?”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7684" y="6334125"/>
            <a:ext cx="45900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에너지 예측 모델 + 속도 탐색 알고리즘을 결합한 의사결정 지원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97122" y="6400800"/>
            <a:ext cx="1468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A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5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CDBA5B07-056A-3327-24B0-D16F37D63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125" y="1856338"/>
            <a:ext cx="6076878" cy="362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81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7684" y="419100"/>
            <a:ext cx="18923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A9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DATA STRUCTURE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7684" y="723900"/>
            <a:ext cx="1066773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 구조 : 주행 조건 → 에너지 소비량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684" y="1323975"/>
            <a:ext cx="10896328" cy="19050"/>
          </a:xfrm>
          <a:prstGeom prst="rect">
            <a:avLst/>
          </a:prstGeom>
          <a:solidFill>
            <a:srgbClr val="DCE5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981" y="1543050"/>
            <a:ext cx="3276518" cy="3105150"/>
          </a:xfrm>
          <a:prstGeom prst="rect">
            <a:avLst/>
          </a:prstGeom>
          <a:solidFill>
            <a:srgbClr val="EE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09625" y="1809750"/>
            <a:ext cx="112808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2F6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주행 조건</a:t>
            </a:r>
            <a:endParaRPr lang="en-US" sz="2050" dirty="0"/>
          </a:p>
        </p:txBody>
      </p:sp>
      <p:sp>
        <p:nvSpPr>
          <p:cNvPr id="8" name="Shape 6"/>
          <p:cNvSpPr/>
          <p:nvPr/>
        </p:nvSpPr>
        <p:spPr>
          <a:xfrm>
            <a:off x="1009625" y="2400300"/>
            <a:ext cx="278123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1070" y="2495550"/>
            <a:ext cx="8863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23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speed_kmh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09625" y="2895600"/>
            <a:ext cx="278123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1070" y="2990850"/>
            <a:ext cx="12011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23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road_grade_pct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09625" y="3390900"/>
            <a:ext cx="278123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181070" y="3486150"/>
            <a:ext cx="1296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23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trip_distance_km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09625" y="3886200"/>
            <a:ext cx="278123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81070" y="3981450"/>
            <a:ext cx="14581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23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driving_style_index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1981" y="1543050"/>
            <a:ext cx="3276518" cy="76200"/>
          </a:xfrm>
          <a:prstGeom prst="rect">
            <a:avLst/>
          </a:prstGeom>
          <a:solidFill>
            <a:srgbClr val="2F6B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457589" y="1543050"/>
            <a:ext cx="3276518" cy="3105150"/>
          </a:xfrm>
          <a:prstGeom prst="rect">
            <a:avLst/>
          </a:prstGeom>
          <a:solidFill>
            <a:srgbClr val="EE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705232" y="1809750"/>
            <a:ext cx="112808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20A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차량 상태</a:t>
            </a:r>
            <a:endParaRPr lang="en-US" sz="2050" dirty="0"/>
          </a:p>
        </p:txBody>
      </p:sp>
      <p:sp>
        <p:nvSpPr>
          <p:cNvPr id="19" name="Shape 17"/>
          <p:cNvSpPr/>
          <p:nvPr/>
        </p:nvSpPr>
        <p:spPr>
          <a:xfrm>
            <a:off x="4705232" y="2400300"/>
            <a:ext cx="278123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76678" y="2495550"/>
            <a:ext cx="8770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23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payload_kg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705232" y="2895600"/>
            <a:ext cx="278123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76678" y="2990850"/>
            <a:ext cx="12199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23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battery_temp_C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705232" y="3390900"/>
            <a:ext cx="278123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76678" y="3486150"/>
            <a:ext cx="13437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23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tire_pressure_bar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457589" y="1543050"/>
            <a:ext cx="3276518" cy="76200"/>
          </a:xfrm>
          <a:prstGeom prst="rect">
            <a:avLst/>
          </a:prstGeom>
          <a:solidFill>
            <a:srgbClr val="20BF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153196" y="1543050"/>
            <a:ext cx="3276518" cy="3105150"/>
          </a:xfrm>
          <a:prstGeom prst="rect">
            <a:avLst/>
          </a:prstGeom>
          <a:solidFill>
            <a:srgbClr val="EE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400840" y="1809750"/>
            <a:ext cx="182235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E88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· 부가전력</a:t>
            </a:r>
            <a:endParaRPr lang="en-US" sz="2050" dirty="0"/>
          </a:p>
        </p:txBody>
      </p:sp>
      <p:sp>
        <p:nvSpPr>
          <p:cNvPr id="28" name="Shape 26"/>
          <p:cNvSpPr/>
          <p:nvPr/>
        </p:nvSpPr>
        <p:spPr>
          <a:xfrm>
            <a:off x="8400840" y="2400300"/>
            <a:ext cx="278123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572286" y="2495550"/>
            <a:ext cx="13056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23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ambient_temp_C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400840" y="2895600"/>
            <a:ext cx="278123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572286" y="2990850"/>
            <a:ext cx="12294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23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hvac_power_kw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153196" y="1543050"/>
            <a:ext cx="3276518" cy="76200"/>
          </a:xfrm>
          <a:prstGeom prst="rect">
            <a:avLst/>
          </a:prstGeom>
          <a:solidFill>
            <a:srgbClr val="F5A3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952676" y="5314950"/>
            <a:ext cx="6286343" cy="838200"/>
          </a:xfrm>
          <a:prstGeom prst="rect">
            <a:avLst/>
          </a:prstGeom>
          <a:solidFill>
            <a:srgbClr val="1028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238419" y="5524500"/>
            <a:ext cx="571485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energy_consumption_kwhper100km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3238419" y="5810250"/>
            <a:ext cx="57148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4D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100km 당 예상 에너지 소비량을 회귀모델로 예측한다.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226800" y="6477000"/>
            <a:ext cx="35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4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40" name="화살표: 아래쪽 39">
            <a:extLst>
              <a:ext uri="{FF2B5EF4-FFF2-40B4-BE49-F238E27FC236}">
                <a16:creationId xmlns:a16="http://schemas.microsoft.com/office/drawing/2014/main" id="{57DB8FD2-2CDE-4BE3-826F-1C23578F8193}"/>
              </a:ext>
            </a:extLst>
          </p:cNvPr>
          <p:cNvSpPr/>
          <p:nvPr/>
        </p:nvSpPr>
        <p:spPr>
          <a:xfrm>
            <a:off x="5981700" y="4724400"/>
            <a:ext cx="228600" cy="533400"/>
          </a:xfrm>
          <a:prstGeom prst="downArrow">
            <a:avLst/>
          </a:prstGeom>
          <a:solidFill>
            <a:srgbClr val="82939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316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7684" y="419100"/>
            <a:ext cx="22357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EXPLORATORY ANALYSIS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684" y="704850"/>
            <a:ext cx="106677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경사도·적재량·속도·HVAC가 소비 증가를 주도했다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684" y="1714500"/>
            <a:ext cx="7000700" cy="3714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819330" y="2114550"/>
            <a:ext cx="4095648" cy="285750"/>
          </a:xfrm>
          <a:prstGeom prst="rect">
            <a:avLst/>
          </a:prstGeom>
          <a:solidFill>
            <a:srgbClr val="E2EB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819330" y="2114550"/>
            <a:ext cx="3905152" cy="285750"/>
          </a:xfrm>
          <a:prstGeom prst="rect">
            <a:avLst/>
          </a:prstGeom>
          <a:solidFill>
            <a:srgbClr val="20B1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819330" y="2114550"/>
            <a:ext cx="167477" cy="285750"/>
          </a:xfrm>
          <a:prstGeom prst="rect">
            <a:avLst/>
          </a:prstGeom>
          <a:solidFill>
            <a:srgbClr val="0C8D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982044" y="2114550"/>
            <a:ext cx="167477" cy="285750"/>
          </a:xfrm>
          <a:prstGeom prst="rect">
            <a:avLst/>
          </a:prstGeom>
          <a:solidFill>
            <a:srgbClr val="0E90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144759" y="2114550"/>
            <a:ext cx="167477" cy="285750"/>
          </a:xfrm>
          <a:prstGeom prst="rect">
            <a:avLst/>
          </a:prstGeom>
          <a:solidFill>
            <a:srgbClr val="0F93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307474" y="2114550"/>
            <a:ext cx="167477" cy="285750"/>
          </a:xfrm>
          <a:prstGeom prst="rect">
            <a:avLst/>
          </a:prstGeom>
          <a:solidFill>
            <a:srgbClr val="1196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470188" y="2114550"/>
            <a:ext cx="167477" cy="285750"/>
          </a:xfrm>
          <a:prstGeom prst="rect">
            <a:avLst/>
          </a:prstGeom>
          <a:solidFill>
            <a:srgbClr val="1399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32903" y="2114550"/>
            <a:ext cx="167477" cy="285750"/>
          </a:xfrm>
          <a:prstGeom prst="rect">
            <a:avLst/>
          </a:prstGeom>
          <a:solidFill>
            <a:srgbClr val="159C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795618" y="2114550"/>
            <a:ext cx="167477" cy="285750"/>
          </a:xfrm>
          <a:prstGeom prst="rect">
            <a:avLst/>
          </a:prstGeom>
          <a:solidFill>
            <a:srgbClr val="16A0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958332" y="2114550"/>
            <a:ext cx="167477" cy="285750"/>
          </a:xfrm>
          <a:prstGeom prst="rect">
            <a:avLst/>
          </a:prstGeom>
          <a:solidFill>
            <a:srgbClr val="18A3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121047" y="2114550"/>
            <a:ext cx="167477" cy="285750"/>
          </a:xfrm>
          <a:prstGeom prst="rect">
            <a:avLst/>
          </a:prstGeom>
          <a:solidFill>
            <a:srgbClr val="1AA6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283762" y="2114550"/>
            <a:ext cx="167477" cy="285750"/>
          </a:xfrm>
          <a:prstGeom prst="rect">
            <a:avLst/>
          </a:prstGeom>
          <a:solidFill>
            <a:srgbClr val="1CA9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446476" y="2114550"/>
            <a:ext cx="167477" cy="285750"/>
          </a:xfrm>
          <a:prstGeom prst="rect">
            <a:avLst/>
          </a:prstGeom>
          <a:solidFill>
            <a:srgbClr val="1DAC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09191" y="2114550"/>
            <a:ext cx="167477" cy="285750"/>
          </a:xfrm>
          <a:prstGeom prst="rect">
            <a:avLst/>
          </a:prstGeom>
          <a:solidFill>
            <a:srgbClr val="1FAF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71906" y="2114550"/>
            <a:ext cx="167477" cy="285750"/>
          </a:xfrm>
          <a:prstGeom prst="rect">
            <a:avLst/>
          </a:prstGeom>
          <a:solidFill>
            <a:srgbClr val="21B3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934620" y="2114550"/>
            <a:ext cx="167477" cy="285750"/>
          </a:xfrm>
          <a:prstGeom prst="rect">
            <a:avLst/>
          </a:prstGeom>
          <a:solidFill>
            <a:srgbClr val="23B6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97335" y="2114550"/>
            <a:ext cx="167477" cy="285750"/>
          </a:xfrm>
          <a:prstGeom prst="rect">
            <a:avLst/>
          </a:prstGeom>
          <a:solidFill>
            <a:srgbClr val="24B9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260050" y="2114550"/>
            <a:ext cx="167477" cy="285750"/>
          </a:xfrm>
          <a:prstGeom prst="rect">
            <a:avLst/>
          </a:prstGeom>
          <a:solidFill>
            <a:srgbClr val="26BC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422764" y="2114550"/>
            <a:ext cx="167477" cy="285750"/>
          </a:xfrm>
          <a:prstGeom prst="rect">
            <a:avLst/>
          </a:prstGeom>
          <a:solidFill>
            <a:srgbClr val="28BF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585479" y="2114550"/>
            <a:ext cx="167477" cy="285750"/>
          </a:xfrm>
          <a:prstGeom prst="rect">
            <a:avLst/>
          </a:prstGeom>
          <a:solidFill>
            <a:srgbClr val="2AC2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748194" y="2114550"/>
            <a:ext cx="167477" cy="285750"/>
          </a:xfrm>
          <a:prstGeom prst="rect">
            <a:avLst/>
          </a:prstGeom>
          <a:solidFill>
            <a:srgbClr val="2BC6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910908" y="2114550"/>
            <a:ext cx="167477" cy="285750"/>
          </a:xfrm>
          <a:prstGeom prst="rect">
            <a:avLst/>
          </a:prstGeom>
          <a:solidFill>
            <a:srgbClr val="2DC9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073623" y="2114550"/>
            <a:ext cx="167477" cy="285750"/>
          </a:xfrm>
          <a:prstGeom prst="rect">
            <a:avLst/>
          </a:prstGeom>
          <a:solidFill>
            <a:srgbClr val="2FCC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236338" y="2114550"/>
            <a:ext cx="167477" cy="285750"/>
          </a:xfrm>
          <a:prstGeom prst="rect">
            <a:avLst/>
          </a:prstGeom>
          <a:solidFill>
            <a:srgbClr val="31CF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399053" y="2114550"/>
            <a:ext cx="167477" cy="285750"/>
          </a:xfrm>
          <a:prstGeom prst="rect">
            <a:avLst/>
          </a:prstGeom>
          <a:solidFill>
            <a:srgbClr val="32D2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561767" y="2114550"/>
            <a:ext cx="167477" cy="285750"/>
          </a:xfrm>
          <a:prstGeom prst="rect">
            <a:avLst/>
          </a:prstGeom>
          <a:solidFill>
            <a:srgbClr val="34D5A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095948" y="2095500"/>
            <a:ext cx="1904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9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819330" y="2781300"/>
            <a:ext cx="4095648" cy="285750"/>
          </a:xfrm>
          <a:prstGeom prst="rect">
            <a:avLst/>
          </a:prstGeom>
          <a:solidFill>
            <a:srgbClr val="E2EB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819330" y="2781300"/>
            <a:ext cx="3286043" cy="285750"/>
          </a:xfrm>
          <a:prstGeom prst="rect">
            <a:avLst/>
          </a:prstGeom>
          <a:solidFill>
            <a:srgbClr val="20B1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2819330" y="2781300"/>
            <a:ext cx="141681" cy="285750"/>
          </a:xfrm>
          <a:prstGeom prst="rect">
            <a:avLst/>
          </a:prstGeom>
          <a:solidFill>
            <a:srgbClr val="0C8D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2956248" y="2781300"/>
            <a:ext cx="141681" cy="285750"/>
          </a:xfrm>
          <a:prstGeom prst="rect">
            <a:avLst/>
          </a:prstGeom>
          <a:solidFill>
            <a:srgbClr val="0E90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093166" y="2781300"/>
            <a:ext cx="141681" cy="285750"/>
          </a:xfrm>
          <a:prstGeom prst="rect">
            <a:avLst/>
          </a:prstGeom>
          <a:solidFill>
            <a:srgbClr val="0F93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230085" y="2781300"/>
            <a:ext cx="141681" cy="285750"/>
          </a:xfrm>
          <a:prstGeom prst="rect">
            <a:avLst/>
          </a:prstGeom>
          <a:solidFill>
            <a:srgbClr val="1196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367003" y="2781300"/>
            <a:ext cx="141681" cy="285750"/>
          </a:xfrm>
          <a:prstGeom prst="rect">
            <a:avLst/>
          </a:prstGeom>
          <a:solidFill>
            <a:srgbClr val="1399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3503922" y="2781300"/>
            <a:ext cx="141681" cy="285750"/>
          </a:xfrm>
          <a:prstGeom prst="rect">
            <a:avLst/>
          </a:prstGeom>
          <a:solidFill>
            <a:srgbClr val="159C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3640840" y="2781300"/>
            <a:ext cx="141681" cy="285750"/>
          </a:xfrm>
          <a:prstGeom prst="rect">
            <a:avLst/>
          </a:prstGeom>
          <a:solidFill>
            <a:srgbClr val="16A0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3777759" y="2781300"/>
            <a:ext cx="141681" cy="285750"/>
          </a:xfrm>
          <a:prstGeom prst="rect">
            <a:avLst/>
          </a:prstGeom>
          <a:solidFill>
            <a:srgbClr val="18A3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3914677" y="2781300"/>
            <a:ext cx="141681" cy="285750"/>
          </a:xfrm>
          <a:prstGeom prst="rect">
            <a:avLst/>
          </a:prstGeom>
          <a:solidFill>
            <a:srgbClr val="1AA6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051596" y="2781300"/>
            <a:ext cx="141681" cy="285750"/>
          </a:xfrm>
          <a:prstGeom prst="rect">
            <a:avLst/>
          </a:prstGeom>
          <a:solidFill>
            <a:srgbClr val="1CA9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188514" y="2781300"/>
            <a:ext cx="141681" cy="285750"/>
          </a:xfrm>
          <a:prstGeom prst="rect">
            <a:avLst/>
          </a:prstGeom>
          <a:solidFill>
            <a:srgbClr val="1DAC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325432" y="2781300"/>
            <a:ext cx="141681" cy="285750"/>
          </a:xfrm>
          <a:prstGeom prst="rect">
            <a:avLst/>
          </a:prstGeom>
          <a:solidFill>
            <a:srgbClr val="1FAF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4462351" y="2781300"/>
            <a:ext cx="141681" cy="285750"/>
          </a:xfrm>
          <a:prstGeom prst="rect">
            <a:avLst/>
          </a:prstGeom>
          <a:solidFill>
            <a:srgbClr val="21B3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599269" y="2781300"/>
            <a:ext cx="141681" cy="285750"/>
          </a:xfrm>
          <a:prstGeom prst="rect">
            <a:avLst/>
          </a:prstGeom>
          <a:solidFill>
            <a:srgbClr val="23B6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736188" y="2781300"/>
            <a:ext cx="141681" cy="285750"/>
          </a:xfrm>
          <a:prstGeom prst="rect">
            <a:avLst/>
          </a:prstGeom>
          <a:solidFill>
            <a:srgbClr val="24B9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4873106" y="2781300"/>
            <a:ext cx="141681" cy="285750"/>
          </a:xfrm>
          <a:prstGeom prst="rect">
            <a:avLst/>
          </a:prstGeom>
          <a:solidFill>
            <a:srgbClr val="26BC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5010025" y="2781300"/>
            <a:ext cx="141681" cy="285750"/>
          </a:xfrm>
          <a:prstGeom prst="rect">
            <a:avLst/>
          </a:prstGeom>
          <a:solidFill>
            <a:srgbClr val="28BF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146943" y="2781300"/>
            <a:ext cx="141681" cy="285750"/>
          </a:xfrm>
          <a:prstGeom prst="rect">
            <a:avLst/>
          </a:prstGeom>
          <a:solidFill>
            <a:srgbClr val="2AC2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283862" y="2781300"/>
            <a:ext cx="141681" cy="285750"/>
          </a:xfrm>
          <a:prstGeom prst="rect">
            <a:avLst/>
          </a:prstGeom>
          <a:solidFill>
            <a:srgbClr val="2BC6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420780" y="2781300"/>
            <a:ext cx="141681" cy="285750"/>
          </a:xfrm>
          <a:prstGeom prst="rect">
            <a:avLst/>
          </a:prstGeom>
          <a:solidFill>
            <a:srgbClr val="2DC9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5557699" y="2781300"/>
            <a:ext cx="141681" cy="285750"/>
          </a:xfrm>
          <a:prstGeom prst="rect">
            <a:avLst/>
          </a:prstGeom>
          <a:solidFill>
            <a:srgbClr val="2FCC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5694617" y="2781300"/>
            <a:ext cx="141681" cy="285750"/>
          </a:xfrm>
          <a:prstGeom prst="rect">
            <a:avLst/>
          </a:prstGeom>
          <a:solidFill>
            <a:srgbClr val="31CF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5831535" y="2781300"/>
            <a:ext cx="141681" cy="285750"/>
          </a:xfrm>
          <a:prstGeom prst="rect">
            <a:avLst/>
          </a:prstGeom>
          <a:solidFill>
            <a:srgbClr val="32D2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5968454" y="2781300"/>
            <a:ext cx="141681" cy="285750"/>
          </a:xfrm>
          <a:prstGeom prst="rect">
            <a:avLst/>
          </a:prstGeom>
          <a:solidFill>
            <a:srgbClr val="34D5A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7095948" y="2762250"/>
            <a:ext cx="1904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9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2819330" y="3448050"/>
            <a:ext cx="4095648" cy="285750"/>
          </a:xfrm>
          <a:prstGeom prst="rect">
            <a:avLst/>
          </a:prstGeom>
          <a:solidFill>
            <a:srgbClr val="E2EB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2819330" y="3448050"/>
            <a:ext cx="2809805" cy="285750"/>
          </a:xfrm>
          <a:prstGeom prst="rect">
            <a:avLst/>
          </a:prstGeom>
          <a:solidFill>
            <a:srgbClr val="20B1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2819330" y="3448050"/>
            <a:ext cx="121838" cy="285750"/>
          </a:xfrm>
          <a:prstGeom prst="rect">
            <a:avLst/>
          </a:prstGeom>
          <a:solidFill>
            <a:srgbClr val="0C8D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2936405" y="3448050"/>
            <a:ext cx="121838" cy="285750"/>
          </a:xfrm>
          <a:prstGeom prst="rect">
            <a:avLst/>
          </a:prstGeom>
          <a:solidFill>
            <a:srgbClr val="0E90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3053480" y="3448050"/>
            <a:ext cx="121838" cy="285750"/>
          </a:xfrm>
          <a:prstGeom prst="rect">
            <a:avLst/>
          </a:prstGeom>
          <a:solidFill>
            <a:srgbClr val="0F93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3170555" y="3448050"/>
            <a:ext cx="121838" cy="285750"/>
          </a:xfrm>
          <a:prstGeom prst="rect">
            <a:avLst/>
          </a:prstGeom>
          <a:solidFill>
            <a:srgbClr val="1196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3287630" y="3448050"/>
            <a:ext cx="121838" cy="285750"/>
          </a:xfrm>
          <a:prstGeom prst="rect">
            <a:avLst/>
          </a:prstGeom>
          <a:solidFill>
            <a:srgbClr val="1399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3404706" y="3448050"/>
            <a:ext cx="121838" cy="285750"/>
          </a:xfrm>
          <a:prstGeom prst="rect">
            <a:avLst/>
          </a:prstGeom>
          <a:solidFill>
            <a:srgbClr val="159C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3521781" y="3448050"/>
            <a:ext cx="121838" cy="285750"/>
          </a:xfrm>
          <a:prstGeom prst="rect">
            <a:avLst/>
          </a:prstGeom>
          <a:solidFill>
            <a:srgbClr val="16A0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3638856" y="3448050"/>
            <a:ext cx="121838" cy="285750"/>
          </a:xfrm>
          <a:prstGeom prst="rect">
            <a:avLst/>
          </a:prstGeom>
          <a:solidFill>
            <a:srgbClr val="18A3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3755931" y="3448050"/>
            <a:ext cx="121838" cy="285750"/>
          </a:xfrm>
          <a:prstGeom prst="rect">
            <a:avLst/>
          </a:prstGeom>
          <a:solidFill>
            <a:srgbClr val="1AA6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3873006" y="3448050"/>
            <a:ext cx="121838" cy="285750"/>
          </a:xfrm>
          <a:prstGeom prst="rect">
            <a:avLst/>
          </a:prstGeom>
          <a:solidFill>
            <a:srgbClr val="1CA9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3990081" y="3448050"/>
            <a:ext cx="121838" cy="285750"/>
          </a:xfrm>
          <a:prstGeom prst="rect">
            <a:avLst/>
          </a:prstGeom>
          <a:solidFill>
            <a:srgbClr val="1DAC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4107157" y="3448050"/>
            <a:ext cx="121838" cy="285750"/>
          </a:xfrm>
          <a:prstGeom prst="rect">
            <a:avLst/>
          </a:prstGeom>
          <a:solidFill>
            <a:srgbClr val="1FAF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4224232" y="3448050"/>
            <a:ext cx="121838" cy="285750"/>
          </a:xfrm>
          <a:prstGeom prst="rect">
            <a:avLst/>
          </a:prstGeom>
          <a:solidFill>
            <a:srgbClr val="21B3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4341307" y="3448050"/>
            <a:ext cx="121838" cy="285750"/>
          </a:xfrm>
          <a:prstGeom prst="rect">
            <a:avLst/>
          </a:prstGeom>
          <a:solidFill>
            <a:srgbClr val="23B6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4458382" y="3448050"/>
            <a:ext cx="121838" cy="285750"/>
          </a:xfrm>
          <a:prstGeom prst="rect">
            <a:avLst/>
          </a:prstGeom>
          <a:solidFill>
            <a:srgbClr val="24B9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4575457" y="3448050"/>
            <a:ext cx="121838" cy="285750"/>
          </a:xfrm>
          <a:prstGeom prst="rect">
            <a:avLst/>
          </a:prstGeom>
          <a:solidFill>
            <a:srgbClr val="26BC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4692533" y="3448050"/>
            <a:ext cx="121838" cy="285750"/>
          </a:xfrm>
          <a:prstGeom prst="rect">
            <a:avLst/>
          </a:prstGeom>
          <a:solidFill>
            <a:srgbClr val="28BF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4809608" y="3448050"/>
            <a:ext cx="121838" cy="285750"/>
          </a:xfrm>
          <a:prstGeom prst="rect">
            <a:avLst/>
          </a:prstGeom>
          <a:solidFill>
            <a:srgbClr val="2AC2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4926683" y="3448050"/>
            <a:ext cx="121838" cy="285750"/>
          </a:xfrm>
          <a:prstGeom prst="rect">
            <a:avLst/>
          </a:prstGeom>
          <a:solidFill>
            <a:srgbClr val="2BC6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5043758" y="3448050"/>
            <a:ext cx="121838" cy="285750"/>
          </a:xfrm>
          <a:prstGeom prst="rect">
            <a:avLst/>
          </a:prstGeom>
          <a:solidFill>
            <a:srgbClr val="2DC9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5160833" y="3448050"/>
            <a:ext cx="121838" cy="285750"/>
          </a:xfrm>
          <a:prstGeom prst="rect">
            <a:avLst/>
          </a:prstGeom>
          <a:solidFill>
            <a:srgbClr val="2FCC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5277909" y="3448050"/>
            <a:ext cx="121838" cy="285750"/>
          </a:xfrm>
          <a:prstGeom prst="rect">
            <a:avLst/>
          </a:prstGeom>
          <a:solidFill>
            <a:srgbClr val="31CF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5394984" y="3448050"/>
            <a:ext cx="121838" cy="285750"/>
          </a:xfrm>
          <a:prstGeom prst="rect">
            <a:avLst/>
          </a:prstGeom>
          <a:solidFill>
            <a:srgbClr val="32D2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5512059" y="3448050"/>
            <a:ext cx="121838" cy="285750"/>
          </a:xfrm>
          <a:prstGeom prst="rect">
            <a:avLst/>
          </a:prstGeom>
          <a:solidFill>
            <a:srgbClr val="34D5A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7095948" y="3429000"/>
            <a:ext cx="1904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9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2819330" y="4114800"/>
            <a:ext cx="2333567" cy="285750"/>
          </a:xfrm>
          <a:prstGeom prst="rect">
            <a:avLst/>
          </a:prstGeom>
          <a:solidFill>
            <a:srgbClr val="20B1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2819330" y="4114800"/>
            <a:ext cx="101994" cy="285750"/>
          </a:xfrm>
          <a:prstGeom prst="rect">
            <a:avLst/>
          </a:prstGeom>
          <a:solidFill>
            <a:srgbClr val="0C8D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2916561" y="4114800"/>
            <a:ext cx="101994" cy="285750"/>
          </a:xfrm>
          <a:prstGeom prst="rect">
            <a:avLst/>
          </a:prstGeom>
          <a:solidFill>
            <a:srgbClr val="0E90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3013793" y="4114800"/>
            <a:ext cx="101994" cy="285750"/>
          </a:xfrm>
          <a:prstGeom prst="rect">
            <a:avLst/>
          </a:prstGeom>
          <a:solidFill>
            <a:srgbClr val="0F93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3111025" y="4114800"/>
            <a:ext cx="101994" cy="285750"/>
          </a:xfrm>
          <a:prstGeom prst="rect">
            <a:avLst/>
          </a:prstGeom>
          <a:solidFill>
            <a:srgbClr val="1196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3208257" y="4114800"/>
            <a:ext cx="101994" cy="285750"/>
          </a:xfrm>
          <a:prstGeom prst="rect">
            <a:avLst/>
          </a:prstGeom>
          <a:solidFill>
            <a:srgbClr val="1399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3305489" y="4114800"/>
            <a:ext cx="101994" cy="285750"/>
          </a:xfrm>
          <a:prstGeom prst="rect">
            <a:avLst/>
          </a:prstGeom>
          <a:solidFill>
            <a:srgbClr val="159C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3402721" y="4114800"/>
            <a:ext cx="101994" cy="285750"/>
          </a:xfrm>
          <a:prstGeom prst="rect">
            <a:avLst/>
          </a:prstGeom>
          <a:solidFill>
            <a:srgbClr val="16A0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3499953" y="4114800"/>
            <a:ext cx="101994" cy="285750"/>
          </a:xfrm>
          <a:prstGeom prst="rect">
            <a:avLst/>
          </a:prstGeom>
          <a:solidFill>
            <a:srgbClr val="18A3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3597185" y="4114800"/>
            <a:ext cx="101994" cy="285750"/>
          </a:xfrm>
          <a:prstGeom prst="rect">
            <a:avLst/>
          </a:prstGeom>
          <a:solidFill>
            <a:srgbClr val="1AA6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3694417" y="4114800"/>
            <a:ext cx="101994" cy="285750"/>
          </a:xfrm>
          <a:prstGeom prst="rect">
            <a:avLst/>
          </a:prstGeom>
          <a:solidFill>
            <a:srgbClr val="1CA9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3791649" y="4114800"/>
            <a:ext cx="101994" cy="285750"/>
          </a:xfrm>
          <a:prstGeom prst="rect">
            <a:avLst/>
          </a:prstGeom>
          <a:solidFill>
            <a:srgbClr val="1DAC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>
            <a:off x="3888881" y="4114800"/>
            <a:ext cx="101994" cy="285750"/>
          </a:xfrm>
          <a:prstGeom prst="rect">
            <a:avLst/>
          </a:prstGeom>
          <a:solidFill>
            <a:srgbClr val="1FAF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3986113" y="4114800"/>
            <a:ext cx="101994" cy="285750"/>
          </a:xfrm>
          <a:prstGeom prst="rect">
            <a:avLst/>
          </a:prstGeom>
          <a:solidFill>
            <a:srgbClr val="21B3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>
            <a:off x="4083345" y="4114800"/>
            <a:ext cx="101994" cy="285750"/>
          </a:xfrm>
          <a:prstGeom prst="rect">
            <a:avLst/>
          </a:prstGeom>
          <a:solidFill>
            <a:srgbClr val="23B6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>
            <a:off x="4180577" y="4114800"/>
            <a:ext cx="101994" cy="285750"/>
          </a:xfrm>
          <a:prstGeom prst="rect">
            <a:avLst/>
          </a:prstGeom>
          <a:solidFill>
            <a:srgbClr val="24B9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>
            <a:off x="4277809" y="4114800"/>
            <a:ext cx="101994" cy="285750"/>
          </a:xfrm>
          <a:prstGeom prst="rect">
            <a:avLst/>
          </a:prstGeom>
          <a:solidFill>
            <a:srgbClr val="26BC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>
            <a:off x="4375041" y="4114800"/>
            <a:ext cx="101994" cy="285750"/>
          </a:xfrm>
          <a:prstGeom prst="rect">
            <a:avLst/>
          </a:prstGeom>
          <a:solidFill>
            <a:srgbClr val="28BF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4472273" y="4114800"/>
            <a:ext cx="101994" cy="285750"/>
          </a:xfrm>
          <a:prstGeom prst="rect">
            <a:avLst/>
          </a:prstGeom>
          <a:solidFill>
            <a:srgbClr val="2AC2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4569505" y="4114800"/>
            <a:ext cx="101994" cy="285750"/>
          </a:xfrm>
          <a:prstGeom prst="rect">
            <a:avLst/>
          </a:prstGeom>
          <a:solidFill>
            <a:srgbClr val="2BC6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>
            <a:off x="4666736" y="4114800"/>
            <a:ext cx="101994" cy="285750"/>
          </a:xfrm>
          <a:prstGeom prst="rect">
            <a:avLst/>
          </a:prstGeom>
          <a:solidFill>
            <a:srgbClr val="2DC9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>
            <a:off x="4763968" y="4114800"/>
            <a:ext cx="101994" cy="285750"/>
          </a:xfrm>
          <a:prstGeom prst="rect">
            <a:avLst/>
          </a:prstGeom>
          <a:solidFill>
            <a:srgbClr val="2FCC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4861200" y="4114800"/>
            <a:ext cx="101994" cy="285750"/>
          </a:xfrm>
          <a:prstGeom prst="rect">
            <a:avLst/>
          </a:prstGeom>
          <a:solidFill>
            <a:srgbClr val="31CF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4958432" y="4114800"/>
            <a:ext cx="101994" cy="285750"/>
          </a:xfrm>
          <a:prstGeom prst="rect">
            <a:avLst/>
          </a:prstGeom>
          <a:solidFill>
            <a:srgbClr val="32D2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5055664" y="4114800"/>
            <a:ext cx="101994" cy="285750"/>
          </a:xfrm>
          <a:prstGeom prst="rect">
            <a:avLst/>
          </a:prstGeom>
          <a:solidFill>
            <a:srgbClr val="34D5A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/>
          <p:nvPr/>
        </p:nvSpPr>
        <p:spPr>
          <a:xfrm>
            <a:off x="7095948" y="4095750"/>
            <a:ext cx="1904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9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</a:t>
            </a:r>
            <a:endParaRPr lang="en-US" sz="1500" dirty="0"/>
          </a:p>
        </p:txBody>
      </p:sp>
      <p:sp>
        <p:nvSpPr>
          <p:cNvPr id="118" name="Text 116"/>
          <p:cNvSpPr/>
          <p:nvPr/>
        </p:nvSpPr>
        <p:spPr>
          <a:xfrm>
            <a:off x="1009625" y="4857750"/>
            <a:ext cx="62768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185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막대는 EDA에서 확인된 상대적 관계를 개념적으로 표현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8257969" y="1714500"/>
            <a:ext cx="3286043" cy="3714750"/>
          </a:xfrm>
          <a:prstGeom prst="rect">
            <a:avLst/>
          </a:prstGeom>
          <a:solidFill>
            <a:srgbClr val="1023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Text 118"/>
          <p:cNvSpPr/>
          <p:nvPr/>
        </p:nvSpPr>
        <p:spPr>
          <a:xfrm>
            <a:off x="8581810" y="2038350"/>
            <a:ext cx="2638359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DE2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TAKEAWAY</a:t>
            </a:r>
            <a:endParaRPr lang="en-US" sz="1050" dirty="0"/>
          </a:p>
        </p:txBody>
      </p:sp>
      <p:sp>
        <p:nvSpPr>
          <p:cNvPr id="123" name="Text 121"/>
          <p:cNvSpPr/>
          <p:nvPr/>
        </p:nvSpPr>
        <p:spPr>
          <a:xfrm>
            <a:off x="647684" y="5867400"/>
            <a:ext cx="1089632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26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특성: 대부분 수치형 · 복잡한 결측 처리 불필요 · 원본 변수의 정보 손실을 최소화</a:t>
            </a:r>
            <a:endParaRPr lang="en-US" sz="1300" dirty="0"/>
          </a:p>
        </p:txBody>
      </p:sp>
      <p:sp>
        <p:nvSpPr>
          <p:cNvPr id="124" name="Text 122"/>
          <p:cNvSpPr/>
          <p:nvPr/>
        </p:nvSpPr>
        <p:spPr>
          <a:xfrm>
            <a:off x="11397122" y="6457950"/>
            <a:ext cx="1468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A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50" dirty="0"/>
          </a:p>
        </p:txBody>
      </p:sp>
      <p:pic>
        <p:nvPicPr>
          <p:cNvPr id="130" name="그림 129">
            <a:extLst>
              <a:ext uri="{FF2B5EF4-FFF2-40B4-BE49-F238E27FC236}">
                <a16:creationId xmlns:a16="http://schemas.microsoft.com/office/drawing/2014/main" id="{F1ECA94F-481B-6D4E-C24F-C2E0D3C94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1625600"/>
            <a:ext cx="7048500" cy="3810000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CD828982-0430-A05A-4EBC-CC02C6B4B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9328" y="2571534"/>
            <a:ext cx="3113723" cy="232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450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7684" y="41910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A9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MODEL SELECTION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7684" y="723900"/>
            <a:ext cx="1066773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모델링 : 3개 회귀모델 비교 후 XGBoost 선택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684" y="1323975"/>
            <a:ext cx="10896328" cy="19050"/>
          </a:xfrm>
          <a:prstGeom prst="rect">
            <a:avLst/>
          </a:prstGeom>
          <a:solidFill>
            <a:srgbClr val="DCE5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81030" y="1619250"/>
            <a:ext cx="2857429" cy="1238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4DF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47724" y="1876425"/>
            <a:ext cx="22685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9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24" y="2324100"/>
            <a:ext cx="215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36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선형 baseline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36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구조 확인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71806" y="2219325"/>
            <a:ext cx="800080" cy="19050"/>
          </a:xfrm>
          <a:prstGeom prst="rect">
            <a:avLst/>
          </a:prstGeom>
          <a:solidFill>
            <a:srgbClr val="8798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67133" y="1619250"/>
            <a:ext cx="2857429" cy="1238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4DF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3827" y="1876425"/>
            <a:ext cx="188843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B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3827" y="2324100"/>
            <a:ext cx="215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36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비선형 · 상호작용 학습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36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트리 평균 ensemble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57909" y="2219325"/>
            <a:ext cx="800080" cy="19050"/>
          </a:xfrm>
          <a:prstGeom prst="rect">
            <a:avLst/>
          </a:prstGeom>
          <a:solidFill>
            <a:srgbClr val="8798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553236" y="1619250"/>
            <a:ext cx="2857429" cy="1238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4DF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19929" y="1876425"/>
            <a:ext cx="108433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6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19929" y="2324100"/>
            <a:ext cx="215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36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잔차를 순차적으로 보완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36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모델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1030" y="3257550"/>
            <a:ext cx="5048124" cy="2533650"/>
          </a:xfrm>
          <a:prstGeom prst="rect">
            <a:avLst/>
          </a:prstGeom>
          <a:solidFill>
            <a:srgbClr val="FFFFFF"/>
          </a:solidFill>
          <a:ln w="19050">
            <a:solidFill>
              <a:srgbClr val="D4DF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66773" y="3467100"/>
            <a:ext cx="18783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RMSE 비교</a:t>
            </a:r>
            <a:endParaRPr lang="en-US" sz="18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1028674" y="3829050"/>
          <a:ext cx="4571886" cy="171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6438739" y="3257550"/>
            <a:ext cx="4971926" cy="2533650"/>
          </a:xfrm>
          <a:prstGeom prst="rect">
            <a:avLst/>
          </a:prstGeom>
          <a:solidFill>
            <a:srgbClr val="EAF1FF"/>
          </a:solidFill>
          <a:ln w="19050">
            <a:solidFill>
              <a:srgbClr val="A9C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743531" y="3514725"/>
            <a:ext cx="16084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F6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선택 근거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6743531" y="3962400"/>
            <a:ext cx="4333767" cy="69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23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XGBoost는 RMSE, MAE, R² 모두에서 가장 우수하다.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223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약 0.947로 테스트 데이터의 에너지 소비량 변동을 가장 잘 설명했다.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743531" y="4933950"/>
            <a:ext cx="440044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914977" y="5095875"/>
            <a:ext cx="4057549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XGBoost: RMSE 0.866 · MAE 0.693 · R² 0.947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258269" y="6496050"/>
            <a:ext cx="2857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74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41890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7684" y="419100"/>
            <a:ext cx="24417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A9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SYSTEM ARCHITECTURE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7684" y="723900"/>
            <a:ext cx="1066773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구조 : 예측 모델과 추천 알고리즘 분리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684" y="1323975"/>
            <a:ext cx="10896328" cy="19050"/>
          </a:xfrm>
          <a:prstGeom prst="rect">
            <a:avLst/>
          </a:prstGeom>
          <a:solidFill>
            <a:srgbClr val="DCE5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1030" y="1504950"/>
            <a:ext cx="106296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3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XGBoost는 최적 속도를 직접 학습하지 않는다. 에너지 소비량을 예측하고, 별도 알고리즘이 추천 속도를 결정한다.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585" y="2305050"/>
            <a:ext cx="1714457" cy="1381125"/>
          </a:xfrm>
          <a:prstGeom prst="rect">
            <a:avLst/>
          </a:prstGeom>
          <a:solidFill>
            <a:srgbClr val="EE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9585" y="2338388"/>
            <a:ext cx="1714457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2F6B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882" y="2800350"/>
            <a:ext cx="148586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Feature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 수치형 변수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362141" y="2952750"/>
            <a:ext cx="523862" cy="19050"/>
          </a:xfrm>
          <a:prstGeom prst="rect">
            <a:avLst/>
          </a:prstGeom>
          <a:solidFill>
            <a:srgbClr val="8798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924102" y="2305050"/>
            <a:ext cx="1714457" cy="1381125"/>
          </a:xfrm>
          <a:prstGeom prst="rect">
            <a:avLst/>
          </a:prstGeom>
          <a:solidFill>
            <a:srgbClr val="EE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924102" y="2338388"/>
            <a:ext cx="1714457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20BF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8399" y="2800350"/>
            <a:ext cx="148586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76658" y="2952750"/>
            <a:ext cx="523862" cy="19050"/>
          </a:xfrm>
          <a:prstGeom prst="rect">
            <a:avLst/>
          </a:prstGeom>
          <a:solidFill>
            <a:srgbClr val="8798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238619" y="2305050"/>
            <a:ext cx="1714457" cy="1381125"/>
          </a:xfrm>
          <a:prstGeom prst="rect">
            <a:avLst/>
          </a:prstGeom>
          <a:solidFill>
            <a:srgbClr val="EE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238619" y="2338388"/>
            <a:ext cx="1714457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F5A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52916" y="2800350"/>
            <a:ext cx="148586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Target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kWh/100km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991175" y="2952750"/>
            <a:ext cx="523862" cy="19050"/>
          </a:xfrm>
          <a:prstGeom prst="rect">
            <a:avLst/>
          </a:prstGeom>
          <a:solidFill>
            <a:srgbClr val="8798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553136" y="2305050"/>
            <a:ext cx="1714457" cy="1381125"/>
          </a:xfrm>
          <a:prstGeom prst="rect">
            <a:avLst/>
          </a:prstGeom>
          <a:solidFill>
            <a:srgbClr val="EE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553136" y="2338388"/>
            <a:ext cx="1714457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2F6B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67433" y="2800350"/>
            <a:ext cx="148586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 탐색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20~130 km/h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305692" y="2952750"/>
            <a:ext cx="523862" cy="19050"/>
          </a:xfrm>
          <a:prstGeom prst="rect">
            <a:avLst/>
          </a:prstGeom>
          <a:solidFill>
            <a:srgbClr val="8798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867653" y="2305050"/>
            <a:ext cx="1714457" cy="1381125"/>
          </a:xfrm>
          <a:prstGeom prst="rect">
            <a:avLst/>
          </a:prstGeom>
          <a:solidFill>
            <a:srgbClr val="1028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867653" y="2338388"/>
            <a:ext cx="1714457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21D6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81950" y="2800350"/>
            <a:ext cx="148586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모드별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속도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52476" y="4533900"/>
            <a:ext cx="4762381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4DF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142971" y="4705350"/>
            <a:ext cx="441949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Energy = Predicted Consumption × Distance / 100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76838" y="4533900"/>
            <a:ext cx="4762381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4DF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667333" y="4705350"/>
            <a:ext cx="441949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Time = Distance / Speed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258269" y="6496050"/>
            <a:ext cx="2857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74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10039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7684" y="419100"/>
            <a:ext cx="13388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MODE LOGIC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684" y="704850"/>
            <a:ext cx="106677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Tolerance는 효율 손실의 한도를 직관적으로 제어한다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684" y="1619250"/>
            <a:ext cx="10896328" cy="895350"/>
          </a:xfrm>
          <a:prstGeom prst="rect">
            <a:avLst/>
          </a:prstGeom>
          <a:solidFill>
            <a:srgbClr val="1023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4524112" y="1866900"/>
                <a:ext cx="2914875" cy="4043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>
                      <m:r>
                        <a:rPr lang="ko-KR" altLang="en-US" sz="2050" b="1" i="1" dirty="0" smtClean="0">
                          <a:solidFill>
                            <a:srgbClr val="5CE5BA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ko-KR" altLang="en-US" sz="2050" b="1" i="1" dirty="0">
                              <a:solidFill>
                                <a:srgbClr val="5CE5B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50" b="1" i="1" dirty="0">
                              <a:solidFill>
                                <a:srgbClr val="5CE5BA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ko-KR" sz="2050" b="1" i="0" dirty="0">
                          <a:solidFill>
                            <a:srgbClr val="5CE5BA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ko-KR" sz="2050" b="1" i="0" dirty="0">
                              <a:solidFill>
                                <a:srgbClr val="5CE5B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50" b="1" i="0" dirty="0">
                              <a:solidFill>
                                <a:srgbClr val="5CE5BA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ko-KR" altLang="en-US" sz="2050" b="1" i="1" dirty="0">
                              <a:solidFill>
                                <a:srgbClr val="5CE5BA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sSub>
                        <m:sSubPr>
                          <m:ctrlPr>
                            <a:rPr lang="ko-KR" altLang="en-US" sz="2050" b="1" i="1" dirty="0">
                              <a:solidFill>
                                <a:srgbClr val="5CE5B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50" b="1" i="1" dirty="0">
                              <a:solidFill>
                                <a:srgbClr val="5CE5BA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2050" b="1" i="1" dirty="0">
                              <a:solidFill>
                                <a:srgbClr val="5CE5BA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US" sz="205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112" y="1866900"/>
                <a:ext cx="2914875" cy="4043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647684" y="2838450"/>
            <a:ext cx="2624072" cy="2362200"/>
          </a:xfrm>
          <a:prstGeom prst="rect">
            <a:avLst/>
          </a:prstGeom>
          <a:solidFill>
            <a:srgbClr val="F1F5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7684" y="2876550"/>
            <a:ext cx="2624072" cy="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A4B8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229" y="3162300"/>
            <a:ext cx="22049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Perfect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57229" y="3486150"/>
            <a:ext cx="220498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F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7229" y="3725466"/>
            <a:ext cx="2204982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F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에너지 최소 속도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F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 기준점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05102" y="2838450"/>
            <a:ext cx="2624072" cy="2362200"/>
          </a:xfrm>
          <a:prstGeom prst="rect">
            <a:avLst/>
          </a:prstGeom>
          <a:solidFill>
            <a:srgbClr val="F1F5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405102" y="2876550"/>
            <a:ext cx="2624072" cy="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18AA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4647" y="3162300"/>
            <a:ext cx="22049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14647" y="3486150"/>
            <a:ext cx="220498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F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4647" y="3725466"/>
            <a:ext cx="2204982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F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절약 중심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F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손실 허용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62521" y="2838450"/>
            <a:ext cx="2624072" cy="2362200"/>
          </a:xfrm>
          <a:prstGeom prst="rect">
            <a:avLst/>
          </a:prstGeom>
          <a:solidFill>
            <a:srgbClr val="F1F5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162521" y="2876550"/>
            <a:ext cx="2624072" cy="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18B8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2066" y="3162300"/>
            <a:ext cx="22049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Balanced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72066" y="3486150"/>
            <a:ext cx="220498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F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2066" y="3725466"/>
            <a:ext cx="2204982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F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에너지와 주행시간의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F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19939" y="2838450"/>
            <a:ext cx="2624072" cy="2362200"/>
          </a:xfrm>
          <a:prstGeom prst="rect">
            <a:avLst/>
          </a:prstGeom>
          <a:solidFill>
            <a:srgbClr val="F1F5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919939" y="2876550"/>
            <a:ext cx="2624072" cy="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F2A0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29484" y="3162300"/>
            <a:ext cx="22049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129484" y="3486150"/>
            <a:ext cx="2204982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F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29484" y="3725466"/>
            <a:ext cx="2204982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F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효율성 중심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F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넓은 후보 허용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7684" y="6038850"/>
            <a:ext cx="1089632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 err="1">
                <a:solidFill>
                  <a:srgbClr val="4057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</a:t>
            </a:r>
            <a:r>
              <a:rPr lang="en-US" sz="1450" dirty="0">
                <a:solidFill>
                  <a:srgbClr val="4057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“최소 에너지보다 몇 %까지 더 쓸 것인가”를 직접 이해하고 선택할 수 있다.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397122" y="6457950"/>
            <a:ext cx="1468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A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20762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7684" y="419100"/>
            <a:ext cx="2315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>
                <a:solidFill>
                  <a:srgbClr val="54E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SERVICE PROTOTYPE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684" y="704850"/>
            <a:ext cx="106677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700" b="1">
                <a:solidFill>
                  <a:srgbClr val="F3FB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조건 입력부터 모드별 결과까지 한 화면에서 제공한다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11397122" y="6477000"/>
            <a:ext cx="1468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F8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5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EFF6B013-ED2D-526F-87EA-2647BE5F0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1625600"/>
            <a:ext cx="5588000" cy="287020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2972E7A4-98E4-1036-ACC4-18883E3BC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1625600"/>
            <a:ext cx="4927600" cy="25146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342684A6-396D-4935-C55C-452277E1CB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0" y="4508500"/>
            <a:ext cx="4953000" cy="2184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34FCD5D-2174-400E-BD37-E9D55DA10808}"/>
              </a:ext>
            </a:extLst>
          </p:cNvPr>
          <p:cNvSpPr txBox="1"/>
          <p:nvPr/>
        </p:nvSpPr>
        <p:spPr>
          <a:xfrm>
            <a:off x="660400" y="1333500"/>
            <a:ext cx="279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54E1B5"/>
                </a:solidFill>
                <a:latin typeface="Malgun Gothic"/>
                <a:ea typeface="Malgun Gothic"/>
              </a:rPr>
              <a:t>① 주행 조건 입력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9DC635-6AA4-460C-81A9-B9C467818B80}"/>
              </a:ext>
            </a:extLst>
          </p:cNvPr>
          <p:cNvSpPr txBox="1"/>
          <p:nvPr/>
        </p:nvSpPr>
        <p:spPr>
          <a:xfrm>
            <a:off x="6604000" y="1333500"/>
            <a:ext cx="368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54E1B5"/>
                </a:solidFill>
                <a:latin typeface="Malgun Gothic"/>
                <a:ea typeface="Malgun Gothic"/>
              </a:rPr>
              <a:t>② Eco · Balanced · Fast </a:t>
            </a:r>
            <a:r>
              <a:rPr lang="ko-KR" altLang="en-US" sz="1400" b="1">
                <a:solidFill>
                  <a:srgbClr val="54E1B5"/>
                </a:solidFill>
                <a:latin typeface="Malgun Gothic"/>
                <a:ea typeface="Malgun Gothic"/>
              </a:rPr>
              <a:t>추천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9E0A2B-A3F2-493D-8726-FAD09A50E977}"/>
              </a:ext>
            </a:extLst>
          </p:cNvPr>
          <p:cNvSpPr txBox="1"/>
          <p:nvPr/>
        </p:nvSpPr>
        <p:spPr>
          <a:xfrm>
            <a:off x="6350000" y="42164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54E1B5"/>
                </a:solidFill>
                <a:latin typeface="Malgun Gothic"/>
                <a:ea typeface="Malgun Gothic"/>
              </a:rPr>
              <a:t>③ 속도</a:t>
            </a:r>
            <a:r>
              <a:rPr lang="en-US" altLang="ko-KR" sz="1400" b="1">
                <a:solidFill>
                  <a:srgbClr val="54E1B5"/>
                </a:solidFill>
                <a:latin typeface="Malgun Gothic"/>
                <a:ea typeface="Malgun Gothic"/>
              </a:rPr>
              <a:t>–</a:t>
            </a:r>
            <a:r>
              <a:rPr lang="ko-KR" altLang="en-US" sz="1400" b="1">
                <a:solidFill>
                  <a:srgbClr val="54E1B5"/>
                </a:solidFill>
                <a:latin typeface="Malgun Gothic"/>
                <a:ea typeface="Malgun Gothic"/>
              </a:rPr>
              <a:t>에너지 프로파일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FC78BA0-B3B6-40C3-B80B-66F4E6A22955}"/>
              </a:ext>
            </a:extLst>
          </p:cNvPr>
          <p:cNvSpPr/>
          <p:nvPr/>
        </p:nvSpPr>
        <p:spPr>
          <a:xfrm>
            <a:off x="660400" y="4876800"/>
            <a:ext cx="5334000" cy="1562100"/>
          </a:xfrm>
          <a:prstGeom prst="rect">
            <a:avLst/>
          </a:prstGeom>
          <a:solidFill>
            <a:srgbClr val="0D26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36B0DB-1FCB-49A7-8596-90257DC6E8CD}"/>
              </a:ext>
            </a:extLst>
          </p:cNvPr>
          <p:cNvSpPr txBox="1"/>
          <p:nvPr/>
        </p:nvSpPr>
        <p:spPr>
          <a:xfrm>
            <a:off x="939800" y="5105400"/>
            <a:ext cx="48006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C8D8D3"/>
                </a:solidFill>
                <a:latin typeface="Malgun Gothic"/>
                <a:ea typeface="Malgun Gothic"/>
              </a:rPr>
              <a:t>주요 조건 설정
학습 데이터 중앙값을 기본값으로 적용
</a:t>
            </a:r>
            <a:r>
              <a:rPr lang="en-US" altLang="ko-KR" sz="1400" dirty="0">
                <a:solidFill>
                  <a:srgbClr val="C8D8D3"/>
                </a:solidFill>
                <a:latin typeface="Malgun Gothic"/>
                <a:ea typeface="Malgun Gothic"/>
              </a:rPr>
              <a:t>Advanced Settings</a:t>
            </a:r>
            <a:r>
              <a:rPr lang="ko-KR" altLang="en-US" sz="1400" dirty="0">
                <a:solidFill>
                  <a:srgbClr val="C8D8D3"/>
                </a:solidFill>
                <a:latin typeface="Malgun Gothic"/>
                <a:ea typeface="Malgun Gothic"/>
              </a:rPr>
              <a:t>에서 세부 변수 조정</a:t>
            </a:r>
          </a:p>
        </p:txBody>
      </p:sp>
    </p:spTree>
    <p:extLst>
      <p:ext uri="{BB962C8B-B14F-4D97-AF65-F5344CB8AC3E}">
        <p14:creationId xmlns:p14="http://schemas.microsoft.com/office/powerpoint/2010/main" val="2656815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7684" y="419100"/>
            <a:ext cx="2567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A9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LIMITATIONS &amp; ROADMAP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7684" y="723900"/>
            <a:ext cx="1071535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한계를 보완하면 구간별 속도 추천으로 확장할 수 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684" y="1323975"/>
            <a:ext cx="10896328" cy="19050"/>
          </a:xfrm>
          <a:prstGeom prst="rect">
            <a:avLst/>
          </a:prstGeom>
          <a:solidFill>
            <a:srgbClr val="DCE5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7684" y="1619250"/>
            <a:ext cx="5219570" cy="4000500"/>
          </a:xfrm>
          <a:prstGeom prst="rect">
            <a:avLst/>
          </a:prstGeom>
          <a:solidFill>
            <a:srgbClr val="EE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1526" y="1905000"/>
            <a:ext cx="11557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5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한계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71526" y="2647950"/>
            <a:ext cx="4514737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한계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1526" y="2901851"/>
            <a:ext cx="4514737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36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데이터는 결측·이상치가 거의 없는 정제된 구조라 실제 주행 데이터 기반 검증이 필요하다.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71526" y="3714750"/>
            <a:ext cx="4514737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표현 한계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71526" y="3968651"/>
            <a:ext cx="4514737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36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현재는 평균 경사도를 입력하지만 실제 도로는 구간별 경사도 변화가 존재한다.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1526" y="4781550"/>
            <a:ext cx="4514737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차량별 특성 미반영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1526" y="5035451"/>
            <a:ext cx="4514737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36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차종, 공기저항, 배터리 용량, 타이어 규격 등이 모델에 포함되지 않았다.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7684" y="1619250"/>
            <a:ext cx="5219570" cy="76200"/>
          </a:xfrm>
          <a:prstGeom prst="rect">
            <a:avLst/>
          </a:prstGeom>
          <a:solidFill>
            <a:srgbClr val="FF51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19650" y="1619250"/>
            <a:ext cx="5219570" cy="4000500"/>
          </a:xfrm>
          <a:prstGeom prst="rect">
            <a:avLst/>
          </a:prstGeom>
          <a:solidFill>
            <a:srgbClr val="1028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3491" y="1905000"/>
            <a:ext cx="11557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1D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방향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343491" y="2647950"/>
            <a:ext cx="4514737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지도·고도 데이터 연동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3491" y="2901851"/>
            <a:ext cx="4514737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7D5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출발지와 도착지를 입력하면 구간별 elevation profile을 자동 추출한다.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43491" y="3714750"/>
            <a:ext cx="4514737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API 연결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43491" y="3968651"/>
            <a:ext cx="4514737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7D5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날씨 API로 외기 온도를 자동 입력하고, 차량 데이터로 배터리 온도를 반영한다.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43491" y="4781550"/>
            <a:ext cx="4514737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구조 확장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43491" y="5035451"/>
            <a:ext cx="4514737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7D5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MVP 이후 FastAPI + Web/Mobile frontend 구조로 확장할 수 있다.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019650" y="1619250"/>
            <a:ext cx="5219570" cy="76200"/>
          </a:xfrm>
          <a:prstGeom prst="rect">
            <a:avLst/>
          </a:prstGeom>
          <a:solidFill>
            <a:srgbClr val="21D6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684" y="5905500"/>
            <a:ext cx="10591535" cy="552450"/>
          </a:xfrm>
          <a:prstGeom prst="rect">
            <a:avLst/>
          </a:prstGeom>
          <a:solidFill>
            <a:srgbClr val="1028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3427" y="6067425"/>
            <a:ext cx="995337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방향: 단일 평균 속도 추천에서 구간별 speed profile 추천으로 확장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11226800" y="6477000"/>
            <a:ext cx="35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4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62FB7A-7B96-434E-91F3-27213DB585E8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fd22d6c4-fa65-4fdf-803e-6b02b55d557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609</Words>
  <Application>Microsoft Office PowerPoint</Application>
  <PresentationFormat>와이드스크린</PresentationFormat>
  <Paragraphs>129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맑은 고딕</vt:lpstr>
      <vt:lpstr>Arial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11</cp:revision>
  <dcterms:created xsi:type="dcterms:W3CDTF">2026-08-28T02:43:21Z</dcterms:created>
  <dcterms:modified xsi:type="dcterms:W3CDTF">2026-08-28T04:00:36Z</dcterms:modified>
</cp:coreProperties>
</file>