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34" d="100"/>
          <a:sy n="34" d="100"/>
        </p:scale>
        <p:origin x="60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ko-KR" altLang="en-US" sz="1800" b="0" i="0" u="none" strike="noStrike">
                <a:solidFill>
                  <a:srgbClr val="000000"/>
                </a:solidFill>
                <a:latin typeface="Arial"/>
              </a:rPr>
              <a:t>모델별 예측 오차 비교 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ko-KR" altLang="en-US" sz="1800" b="0" i="0" u="none" strike="noStrike">
                <a:solidFill>
                  <a:srgbClr val="000000"/>
                </a:solidFill>
                <a:latin typeface="Arial"/>
              </a:rPr>
              <a:t>낮을수록 우수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Arial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0D8F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0.997</c:v>
                </c:pt>
                <c:pt idx="1">
                  <c:v>1.1930000000000001</c:v>
                </c:pt>
                <c:pt idx="2">
                  <c:v>0.86599999999999999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C6-49B7-9ED5-22DF1D556A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F0A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0.79400000000000004</c:v>
                </c:pt>
                <c:pt idx="1">
                  <c:v>0.94799999999999995</c:v>
                </c:pt>
                <c:pt idx="2">
                  <c:v>0.69299999999999995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C6-49B7-9ED5-22DF1D556A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5F355-2B8D-4676-B7BC-62706F91B79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D03AF-6FFE-4C25-9E17-A0B8650562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033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63C1DCED-1491-43C2-9BDE-4A6E846D0313}"/>
              </a:ext>
            </a:extLst>
          </p:cNvPr>
          <p:cNvSpPr/>
          <p:nvPr/>
        </p:nvSpPr>
        <p:spPr>
          <a:xfrm>
            <a:off x="8255000" y="914400"/>
            <a:ext cx="3048000" cy="3149600"/>
          </a:xfrm>
          <a:prstGeom prst="rect">
            <a:avLst/>
          </a:prstGeom>
          <a:solidFill>
            <a:srgbClr val="0A8F7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42931" y="723900"/>
            <a:ext cx="28291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2E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 ENERGY DECISION SUPPORT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882" y="1524000"/>
            <a:ext cx="619109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B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 Speed Advisor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61981" y="2647950"/>
            <a:ext cx="5905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5D9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전기차 에너지 효율 기반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C5D9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속도 추천 시스템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1981" y="3905250"/>
            <a:ext cx="5143371" cy="28575"/>
          </a:xfrm>
          <a:prstGeom prst="rect">
            <a:avLst/>
          </a:prstGeom>
          <a:solidFill>
            <a:srgbClr val="18D89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1981" y="4210050"/>
            <a:ext cx="59690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8EAA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예측 · Tolerance 기반 최적화 · Streamlit Prototype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1981" y="6048375"/>
            <a:ext cx="29104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2E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모델을 실제 주행 의사결정으로 확장</a:t>
            </a:r>
            <a:endParaRPr lang="en-US" sz="115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697BB3-94D1-4AA6-A14B-E3429D7E528D}"/>
              </a:ext>
            </a:extLst>
          </p:cNvPr>
          <p:cNvSpPr/>
          <p:nvPr/>
        </p:nvSpPr>
        <p:spPr>
          <a:xfrm>
            <a:off x="10744200" y="914400"/>
            <a:ext cx="558800" cy="3149600"/>
          </a:xfrm>
          <a:prstGeom prst="rect">
            <a:avLst/>
          </a:prstGeom>
          <a:solidFill>
            <a:srgbClr val="39DD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2554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57200"/>
            <a:ext cx="20429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PROBLEM DEFINITION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429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최소만으로는 현실적인 속도를 고를 수 없다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1714500"/>
            <a:ext cx="4810005" cy="3905250"/>
          </a:xfrm>
          <a:prstGeom prst="rect">
            <a:avLst/>
          </a:prstGeom>
          <a:solidFill>
            <a:srgbClr val="1023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09625" y="2076450"/>
            <a:ext cx="4086123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속도를 낮추면 효율은 좋아지지만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주행시간이 과도하게 늘어난다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9625" y="2769691"/>
            <a:ext cx="4086123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C8D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차량과 도로 조건에서 최소 에너지 소비량을 크게 희생하지 않으면서, 실제 운전자가 수용할 수 있는 속도를 찾아야 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9625" y="4373017"/>
            <a:ext cx="4086123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20D5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9625" y="5011192"/>
            <a:ext cx="408612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C8D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“효율 손실을 제한하면서 얼마나 빠르게 갈 것인가?”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23000" y="4905375"/>
            <a:ext cx="4730750" cy="28575"/>
          </a:xfrm>
          <a:prstGeom prst="rect">
            <a:avLst/>
          </a:prstGeom>
          <a:solidFill>
            <a:srgbClr val="8DA1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191095" y="2133600"/>
            <a:ext cx="28574" cy="2800350"/>
          </a:xfrm>
          <a:prstGeom prst="rect">
            <a:avLst/>
          </a:prstGeom>
          <a:solidFill>
            <a:srgbClr val="8DA1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508954" y="2914236"/>
            <a:ext cx="4031416" cy="0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13A7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0487" y="4622604"/>
            <a:ext cx="4051201" cy="0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F39C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04294" y="4295775"/>
            <a:ext cx="1149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8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소비 ↑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321717" y="2343150"/>
            <a:ext cx="917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D87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주행시간 ↓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547483" y="5086350"/>
            <a:ext cx="6631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속도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05352" y="1857375"/>
            <a:ext cx="3047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E7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86543" y="3524250"/>
            <a:ext cx="781030" cy="781050"/>
          </a:xfrm>
          <a:prstGeom prst="ellipse">
            <a:avLst/>
          </a:prstGeom>
          <a:solidFill>
            <a:srgbClr val="10232B"/>
          </a:solidFill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7684" y="6334125"/>
            <a:ext cx="45900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에너지 예측 모델 + 속도 탐색 알고리즘을 결합한 의사결정 지원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397122" y="640080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A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56781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15848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DATA &amp; TARGET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572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주행 조건으로 단위거리 에너지 소비를 예측한다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16764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71496" y="16764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6753" y="18669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speed_kmh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6753" y="21145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속도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3244" y="1676400"/>
            <a:ext cx="2511412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97056" y="16764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2313" y="1866900"/>
            <a:ext cx="212089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payload_kg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492313" y="2114550"/>
            <a:ext cx="212089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 하중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8953" y="16764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922765" y="16764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18022" y="18669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ambient_temp_C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18022" y="21145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온도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7684" y="30480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71496" y="30480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753" y="32385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hvac_power_kw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66753" y="34861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냉난방 소비 전력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73244" y="3048000"/>
            <a:ext cx="2511412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297056" y="30480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92313" y="3238500"/>
            <a:ext cx="212089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road_grade_pct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492313" y="3486150"/>
            <a:ext cx="212089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 경사도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98953" y="30480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922765" y="30480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18022" y="32385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battery_temp_C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118022" y="34861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 온도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7684" y="44196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71496" y="44196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6753" y="46101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driving_style_index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66753" y="48577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스타일 지수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273244" y="4419600"/>
            <a:ext cx="2511412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3297056" y="44196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92313" y="4610100"/>
            <a:ext cx="212089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tire_pressure_bar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3492313" y="4857750"/>
            <a:ext cx="212089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공기압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898953" y="4419600"/>
            <a:ext cx="2511263" cy="1257300"/>
          </a:xfrm>
          <a:prstGeom prst="rect">
            <a:avLst/>
          </a:prstGeom>
          <a:solidFill>
            <a:srgbClr val="F0F5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922765" y="4419600"/>
            <a:ext cx="0" cy="1257300"/>
          </a:xfrm>
          <a:prstGeom prst="line">
            <a:avLst/>
          </a:prstGeom>
          <a:solidFill>
            <a:srgbClr val="FFFFFF">
              <a:alpha val="0"/>
            </a:srgbClr>
          </a:solidFill>
          <a:ln w="47625">
            <a:solidFill>
              <a:srgbClr val="18AA7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18022" y="4610100"/>
            <a:ext cx="21207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76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trip_distance_km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6118022" y="4857750"/>
            <a:ext cx="212074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D71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거리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9889" y="3390900"/>
            <a:ext cx="361941" cy="38100"/>
          </a:xfrm>
          <a:prstGeom prst="rect">
            <a:avLst/>
          </a:prstGeom>
          <a:solidFill>
            <a:srgbClr val="18AA7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877078" y="1676400"/>
            <a:ext cx="2666933" cy="4000500"/>
          </a:xfrm>
          <a:prstGeom prst="rect">
            <a:avLst/>
          </a:prstGeom>
          <a:solidFill>
            <a:srgbClr val="0D263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162821" y="1962150"/>
            <a:ext cx="209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1E1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REGRESSION TARGET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162821" y="2760985"/>
            <a:ext cx="2095448" cy="955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Energy consumption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162821" y="3049265"/>
            <a:ext cx="2095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5CE5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kWh/100km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9162821" y="4222105"/>
            <a:ext cx="2095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6D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차량·환경 조건을 입력받아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6D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100km당 에너지 소비량을 예측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47684" y="6353175"/>
            <a:ext cx="59650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결측치·명확한 이상치 없음 · 수치형 원본 변수 중심 · grade_group은 학습에서 제외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1397122" y="640080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A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864834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22357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EXPLORATORY ANALYSIS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경사도·적재량·속도·HVAC가 소비 증가를 주도했다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1714500"/>
            <a:ext cx="7000700" cy="3714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819330" y="2114550"/>
            <a:ext cx="4095648" cy="285750"/>
          </a:xfrm>
          <a:prstGeom prst="rect">
            <a:avLst/>
          </a:prstGeom>
          <a:solidFill>
            <a:srgbClr val="E2EB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819330" y="2114550"/>
            <a:ext cx="3905152" cy="285750"/>
          </a:xfrm>
          <a:prstGeom prst="rect">
            <a:avLst/>
          </a:prstGeom>
          <a:solidFill>
            <a:srgbClr val="20B1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819330" y="2114550"/>
            <a:ext cx="167477" cy="285750"/>
          </a:xfrm>
          <a:prstGeom prst="rect">
            <a:avLst/>
          </a:prstGeom>
          <a:solidFill>
            <a:srgbClr val="0C8D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982044" y="2114550"/>
            <a:ext cx="167477" cy="285750"/>
          </a:xfrm>
          <a:prstGeom prst="rect">
            <a:avLst/>
          </a:prstGeom>
          <a:solidFill>
            <a:srgbClr val="0E90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144759" y="2114550"/>
            <a:ext cx="167477" cy="285750"/>
          </a:xfrm>
          <a:prstGeom prst="rect">
            <a:avLst/>
          </a:prstGeom>
          <a:solidFill>
            <a:srgbClr val="0F93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307474" y="2114550"/>
            <a:ext cx="167477" cy="285750"/>
          </a:xfrm>
          <a:prstGeom prst="rect">
            <a:avLst/>
          </a:prstGeom>
          <a:solidFill>
            <a:srgbClr val="1196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470188" y="2114550"/>
            <a:ext cx="167477" cy="285750"/>
          </a:xfrm>
          <a:prstGeom prst="rect">
            <a:avLst/>
          </a:prstGeom>
          <a:solidFill>
            <a:srgbClr val="1399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32903" y="2114550"/>
            <a:ext cx="167477" cy="285750"/>
          </a:xfrm>
          <a:prstGeom prst="rect">
            <a:avLst/>
          </a:prstGeom>
          <a:solidFill>
            <a:srgbClr val="159C7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795618" y="2114550"/>
            <a:ext cx="167477" cy="285750"/>
          </a:xfrm>
          <a:prstGeom prst="rect">
            <a:avLst/>
          </a:prstGeom>
          <a:solidFill>
            <a:srgbClr val="16A07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958332" y="2114550"/>
            <a:ext cx="167477" cy="285750"/>
          </a:xfrm>
          <a:prstGeom prst="rect">
            <a:avLst/>
          </a:prstGeom>
          <a:solidFill>
            <a:srgbClr val="18A3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121047" y="2114550"/>
            <a:ext cx="167477" cy="285750"/>
          </a:xfrm>
          <a:prstGeom prst="rect">
            <a:avLst/>
          </a:prstGeom>
          <a:solidFill>
            <a:srgbClr val="1AA67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283762" y="2114550"/>
            <a:ext cx="167477" cy="285750"/>
          </a:xfrm>
          <a:prstGeom prst="rect">
            <a:avLst/>
          </a:prstGeom>
          <a:solidFill>
            <a:srgbClr val="1CA98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446476" y="2114550"/>
            <a:ext cx="167477" cy="285750"/>
          </a:xfrm>
          <a:prstGeom prst="rect">
            <a:avLst/>
          </a:prstGeom>
          <a:solidFill>
            <a:srgbClr val="1DAC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609191" y="2114550"/>
            <a:ext cx="167477" cy="285750"/>
          </a:xfrm>
          <a:prstGeom prst="rect">
            <a:avLst/>
          </a:prstGeom>
          <a:solidFill>
            <a:srgbClr val="1FAF8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771906" y="2114550"/>
            <a:ext cx="167477" cy="285750"/>
          </a:xfrm>
          <a:prstGeom prst="rect">
            <a:avLst/>
          </a:prstGeom>
          <a:solidFill>
            <a:srgbClr val="21B38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934620" y="2114550"/>
            <a:ext cx="167477" cy="285750"/>
          </a:xfrm>
          <a:prstGeom prst="rect">
            <a:avLst/>
          </a:prstGeom>
          <a:solidFill>
            <a:srgbClr val="23B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097335" y="2114550"/>
            <a:ext cx="167477" cy="285750"/>
          </a:xfrm>
          <a:prstGeom prst="rect">
            <a:avLst/>
          </a:prstGeom>
          <a:solidFill>
            <a:srgbClr val="24B9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260050" y="2114550"/>
            <a:ext cx="167477" cy="285750"/>
          </a:xfrm>
          <a:prstGeom prst="rect">
            <a:avLst/>
          </a:prstGeom>
          <a:solidFill>
            <a:srgbClr val="26BC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422764" y="2114550"/>
            <a:ext cx="167477" cy="285750"/>
          </a:xfrm>
          <a:prstGeom prst="rect">
            <a:avLst/>
          </a:prstGeom>
          <a:solidFill>
            <a:srgbClr val="28BF9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585479" y="2114550"/>
            <a:ext cx="167477" cy="285750"/>
          </a:xfrm>
          <a:prstGeom prst="rect">
            <a:avLst/>
          </a:prstGeom>
          <a:solidFill>
            <a:srgbClr val="2AC29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748194" y="2114550"/>
            <a:ext cx="167477" cy="285750"/>
          </a:xfrm>
          <a:prstGeom prst="rect">
            <a:avLst/>
          </a:prstGeom>
          <a:solidFill>
            <a:srgbClr val="2BC6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910908" y="2114550"/>
            <a:ext cx="167477" cy="285750"/>
          </a:xfrm>
          <a:prstGeom prst="rect">
            <a:avLst/>
          </a:prstGeom>
          <a:solidFill>
            <a:srgbClr val="2DC99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073623" y="2114550"/>
            <a:ext cx="167477" cy="285750"/>
          </a:xfrm>
          <a:prstGeom prst="rect">
            <a:avLst/>
          </a:prstGeom>
          <a:solidFill>
            <a:srgbClr val="2FCC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236338" y="2114550"/>
            <a:ext cx="167477" cy="285750"/>
          </a:xfrm>
          <a:prstGeom prst="rect">
            <a:avLst/>
          </a:prstGeom>
          <a:solidFill>
            <a:srgbClr val="31CF9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399053" y="2114550"/>
            <a:ext cx="167477" cy="285750"/>
          </a:xfrm>
          <a:prstGeom prst="rect">
            <a:avLst/>
          </a:prstGeom>
          <a:solidFill>
            <a:srgbClr val="32D2A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561767" y="2114550"/>
            <a:ext cx="167477" cy="285750"/>
          </a:xfrm>
          <a:prstGeom prst="rect">
            <a:avLst/>
          </a:prstGeom>
          <a:solidFill>
            <a:srgbClr val="34D5A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095948" y="2095500"/>
            <a:ext cx="19049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9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819330" y="2781300"/>
            <a:ext cx="4095648" cy="285750"/>
          </a:xfrm>
          <a:prstGeom prst="rect">
            <a:avLst/>
          </a:prstGeom>
          <a:solidFill>
            <a:srgbClr val="E2EB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2819330" y="2781300"/>
            <a:ext cx="3286043" cy="285750"/>
          </a:xfrm>
          <a:prstGeom prst="rect">
            <a:avLst/>
          </a:prstGeom>
          <a:solidFill>
            <a:srgbClr val="20B1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2819330" y="2781300"/>
            <a:ext cx="141681" cy="285750"/>
          </a:xfrm>
          <a:prstGeom prst="rect">
            <a:avLst/>
          </a:prstGeom>
          <a:solidFill>
            <a:srgbClr val="0C8D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2956248" y="2781300"/>
            <a:ext cx="141681" cy="285750"/>
          </a:xfrm>
          <a:prstGeom prst="rect">
            <a:avLst/>
          </a:prstGeom>
          <a:solidFill>
            <a:srgbClr val="0E90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3093166" y="2781300"/>
            <a:ext cx="141681" cy="285750"/>
          </a:xfrm>
          <a:prstGeom prst="rect">
            <a:avLst/>
          </a:prstGeom>
          <a:solidFill>
            <a:srgbClr val="0F93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3230085" y="2781300"/>
            <a:ext cx="141681" cy="285750"/>
          </a:xfrm>
          <a:prstGeom prst="rect">
            <a:avLst/>
          </a:prstGeom>
          <a:solidFill>
            <a:srgbClr val="1196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3367003" y="2781300"/>
            <a:ext cx="141681" cy="285750"/>
          </a:xfrm>
          <a:prstGeom prst="rect">
            <a:avLst/>
          </a:prstGeom>
          <a:solidFill>
            <a:srgbClr val="1399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3503922" y="2781300"/>
            <a:ext cx="141681" cy="285750"/>
          </a:xfrm>
          <a:prstGeom prst="rect">
            <a:avLst/>
          </a:prstGeom>
          <a:solidFill>
            <a:srgbClr val="159C7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3640840" y="2781300"/>
            <a:ext cx="141681" cy="285750"/>
          </a:xfrm>
          <a:prstGeom prst="rect">
            <a:avLst/>
          </a:prstGeom>
          <a:solidFill>
            <a:srgbClr val="16A07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3777759" y="2781300"/>
            <a:ext cx="141681" cy="285750"/>
          </a:xfrm>
          <a:prstGeom prst="rect">
            <a:avLst/>
          </a:prstGeom>
          <a:solidFill>
            <a:srgbClr val="18A3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914677" y="2781300"/>
            <a:ext cx="141681" cy="285750"/>
          </a:xfrm>
          <a:prstGeom prst="rect">
            <a:avLst/>
          </a:prstGeom>
          <a:solidFill>
            <a:srgbClr val="1AA67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051596" y="2781300"/>
            <a:ext cx="141681" cy="285750"/>
          </a:xfrm>
          <a:prstGeom prst="rect">
            <a:avLst/>
          </a:prstGeom>
          <a:solidFill>
            <a:srgbClr val="1CA98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188514" y="2781300"/>
            <a:ext cx="141681" cy="285750"/>
          </a:xfrm>
          <a:prstGeom prst="rect">
            <a:avLst/>
          </a:prstGeom>
          <a:solidFill>
            <a:srgbClr val="1DAC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4325432" y="2781300"/>
            <a:ext cx="141681" cy="285750"/>
          </a:xfrm>
          <a:prstGeom prst="rect">
            <a:avLst/>
          </a:prstGeom>
          <a:solidFill>
            <a:srgbClr val="1FAF8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462351" y="2781300"/>
            <a:ext cx="141681" cy="285750"/>
          </a:xfrm>
          <a:prstGeom prst="rect">
            <a:avLst/>
          </a:prstGeom>
          <a:solidFill>
            <a:srgbClr val="21B38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599269" y="2781300"/>
            <a:ext cx="141681" cy="285750"/>
          </a:xfrm>
          <a:prstGeom prst="rect">
            <a:avLst/>
          </a:prstGeom>
          <a:solidFill>
            <a:srgbClr val="23B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4736188" y="2781300"/>
            <a:ext cx="141681" cy="285750"/>
          </a:xfrm>
          <a:prstGeom prst="rect">
            <a:avLst/>
          </a:prstGeom>
          <a:solidFill>
            <a:srgbClr val="24B9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4873106" y="2781300"/>
            <a:ext cx="141681" cy="285750"/>
          </a:xfrm>
          <a:prstGeom prst="rect">
            <a:avLst/>
          </a:prstGeom>
          <a:solidFill>
            <a:srgbClr val="26BC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010025" y="2781300"/>
            <a:ext cx="141681" cy="285750"/>
          </a:xfrm>
          <a:prstGeom prst="rect">
            <a:avLst/>
          </a:prstGeom>
          <a:solidFill>
            <a:srgbClr val="28BF9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146943" y="2781300"/>
            <a:ext cx="141681" cy="285750"/>
          </a:xfrm>
          <a:prstGeom prst="rect">
            <a:avLst/>
          </a:prstGeom>
          <a:solidFill>
            <a:srgbClr val="2AC29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5283862" y="2781300"/>
            <a:ext cx="141681" cy="285750"/>
          </a:xfrm>
          <a:prstGeom prst="rect">
            <a:avLst/>
          </a:prstGeom>
          <a:solidFill>
            <a:srgbClr val="2BC6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5420780" y="2781300"/>
            <a:ext cx="141681" cy="285750"/>
          </a:xfrm>
          <a:prstGeom prst="rect">
            <a:avLst/>
          </a:prstGeom>
          <a:solidFill>
            <a:srgbClr val="2DC99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5557699" y="2781300"/>
            <a:ext cx="141681" cy="285750"/>
          </a:xfrm>
          <a:prstGeom prst="rect">
            <a:avLst/>
          </a:prstGeom>
          <a:solidFill>
            <a:srgbClr val="2FCC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694617" y="2781300"/>
            <a:ext cx="141681" cy="285750"/>
          </a:xfrm>
          <a:prstGeom prst="rect">
            <a:avLst/>
          </a:prstGeom>
          <a:solidFill>
            <a:srgbClr val="31CF9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5831535" y="2781300"/>
            <a:ext cx="141681" cy="285750"/>
          </a:xfrm>
          <a:prstGeom prst="rect">
            <a:avLst/>
          </a:prstGeom>
          <a:solidFill>
            <a:srgbClr val="32D2A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5968454" y="2781300"/>
            <a:ext cx="141681" cy="285750"/>
          </a:xfrm>
          <a:prstGeom prst="rect">
            <a:avLst/>
          </a:prstGeom>
          <a:solidFill>
            <a:srgbClr val="34D5A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7095948" y="2762250"/>
            <a:ext cx="19049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9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2819330" y="3448050"/>
            <a:ext cx="4095648" cy="285750"/>
          </a:xfrm>
          <a:prstGeom prst="rect">
            <a:avLst/>
          </a:prstGeom>
          <a:solidFill>
            <a:srgbClr val="E2EB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2819330" y="3448050"/>
            <a:ext cx="2809805" cy="285750"/>
          </a:xfrm>
          <a:prstGeom prst="rect">
            <a:avLst/>
          </a:prstGeom>
          <a:solidFill>
            <a:srgbClr val="20B1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2819330" y="3448050"/>
            <a:ext cx="121838" cy="285750"/>
          </a:xfrm>
          <a:prstGeom prst="rect">
            <a:avLst/>
          </a:prstGeom>
          <a:solidFill>
            <a:srgbClr val="0C8D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2936405" y="3448050"/>
            <a:ext cx="121838" cy="285750"/>
          </a:xfrm>
          <a:prstGeom prst="rect">
            <a:avLst/>
          </a:prstGeom>
          <a:solidFill>
            <a:srgbClr val="0E90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3053480" y="3448050"/>
            <a:ext cx="121838" cy="285750"/>
          </a:xfrm>
          <a:prstGeom prst="rect">
            <a:avLst/>
          </a:prstGeom>
          <a:solidFill>
            <a:srgbClr val="0F93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3170555" y="3448050"/>
            <a:ext cx="121838" cy="285750"/>
          </a:xfrm>
          <a:prstGeom prst="rect">
            <a:avLst/>
          </a:prstGeom>
          <a:solidFill>
            <a:srgbClr val="1196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3287630" y="3448050"/>
            <a:ext cx="121838" cy="285750"/>
          </a:xfrm>
          <a:prstGeom prst="rect">
            <a:avLst/>
          </a:prstGeom>
          <a:solidFill>
            <a:srgbClr val="1399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3404706" y="3448050"/>
            <a:ext cx="121838" cy="285750"/>
          </a:xfrm>
          <a:prstGeom prst="rect">
            <a:avLst/>
          </a:prstGeom>
          <a:solidFill>
            <a:srgbClr val="159C7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3521781" y="3448050"/>
            <a:ext cx="121838" cy="285750"/>
          </a:xfrm>
          <a:prstGeom prst="rect">
            <a:avLst/>
          </a:prstGeom>
          <a:solidFill>
            <a:srgbClr val="16A07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3638856" y="3448050"/>
            <a:ext cx="121838" cy="285750"/>
          </a:xfrm>
          <a:prstGeom prst="rect">
            <a:avLst/>
          </a:prstGeom>
          <a:solidFill>
            <a:srgbClr val="18A3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3755931" y="3448050"/>
            <a:ext cx="121838" cy="285750"/>
          </a:xfrm>
          <a:prstGeom prst="rect">
            <a:avLst/>
          </a:prstGeom>
          <a:solidFill>
            <a:srgbClr val="1AA67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3873006" y="3448050"/>
            <a:ext cx="121838" cy="285750"/>
          </a:xfrm>
          <a:prstGeom prst="rect">
            <a:avLst/>
          </a:prstGeom>
          <a:solidFill>
            <a:srgbClr val="1CA98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3990081" y="3448050"/>
            <a:ext cx="121838" cy="285750"/>
          </a:xfrm>
          <a:prstGeom prst="rect">
            <a:avLst/>
          </a:prstGeom>
          <a:solidFill>
            <a:srgbClr val="1DAC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4107157" y="3448050"/>
            <a:ext cx="121838" cy="285750"/>
          </a:xfrm>
          <a:prstGeom prst="rect">
            <a:avLst/>
          </a:prstGeom>
          <a:solidFill>
            <a:srgbClr val="1FAF8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4224232" y="3448050"/>
            <a:ext cx="121838" cy="285750"/>
          </a:xfrm>
          <a:prstGeom prst="rect">
            <a:avLst/>
          </a:prstGeom>
          <a:solidFill>
            <a:srgbClr val="21B38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4341307" y="3448050"/>
            <a:ext cx="121838" cy="285750"/>
          </a:xfrm>
          <a:prstGeom prst="rect">
            <a:avLst/>
          </a:prstGeom>
          <a:solidFill>
            <a:srgbClr val="23B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4458382" y="3448050"/>
            <a:ext cx="121838" cy="285750"/>
          </a:xfrm>
          <a:prstGeom prst="rect">
            <a:avLst/>
          </a:prstGeom>
          <a:solidFill>
            <a:srgbClr val="24B9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575457" y="3448050"/>
            <a:ext cx="121838" cy="285750"/>
          </a:xfrm>
          <a:prstGeom prst="rect">
            <a:avLst/>
          </a:prstGeom>
          <a:solidFill>
            <a:srgbClr val="26BC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4692533" y="3448050"/>
            <a:ext cx="121838" cy="285750"/>
          </a:xfrm>
          <a:prstGeom prst="rect">
            <a:avLst/>
          </a:prstGeom>
          <a:solidFill>
            <a:srgbClr val="28BF9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4809608" y="3448050"/>
            <a:ext cx="121838" cy="285750"/>
          </a:xfrm>
          <a:prstGeom prst="rect">
            <a:avLst/>
          </a:prstGeom>
          <a:solidFill>
            <a:srgbClr val="2AC29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4926683" y="3448050"/>
            <a:ext cx="121838" cy="285750"/>
          </a:xfrm>
          <a:prstGeom prst="rect">
            <a:avLst/>
          </a:prstGeom>
          <a:solidFill>
            <a:srgbClr val="2BC6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5043758" y="3448050"/>
            <a:ext cx="121838" cy="285750"/>
          </a:xfrm>
          <a:prstGeom prst="rect">
            <a:avLst/>
          </a:prstGeom>
          <a:solidFill>
            <a:srgbClr val="2DC99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5160833" y="3448050"/>
            <a:ext cx="121838" cy="285750"/>
          </a:xfrm>
          <a:prstGeom prst="rect">
            <a:avLst/>
          </a:prstGeom>
          <a:solidFill>
            <a:srgbClr val="2FCC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5277909" y="3448050"/>
            <a:ext cx="121838" cy="285750"/>
          </a:xfrm>
          <a:prstGeom prst="rect">
            <a:avLst/>
          </a:prstGeom>
          <a:solidFill>
            <a:srgbClr val="31CF9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394984" y="3448050"/>
            <a:ext cx="121838" cy="285750"/>
          </a:xfrm>
          <a:prstGeom prst="rect">
            <a:avLst/>
          </a:prstGeom>
          <a:solidFill>
            <a:srgbClr val="32D2A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5512059" y="3448050"/>
            <a:ext cx="121838" cy="285750"/>
          </a:xfrm>
          <a:prstGeom prst="rect">
            <a:avLst/>
          </a:prstGeom>
          <a:solidFill>
            <a:srgbClr val="34D5A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/>
          <p:nvPr/>
        </p:nvSpPr>
        <p:spPr>
          <a:xfrm>
            <a:off x="7095948" y="3429000"/>
            <a:ext cx="19049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9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2819330" y="4114800"/>
            <a:ext cx="2333567" cy="285750"/>
          </a:xfrm>
          <a:prstGeom prst="rect">
            <a:avLst/>
          </a:prstGeom>
          <a:solidFill>
            <a:srgbClr val="20B1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Shape 91"/>
          <p:cNvSpPr/>
          <p:nvPr/>
        </p:nvSpPr>
        <p:spPr>
          <a:xfrm>
            <a:off x="2819330" y="4114800"/>
            <a:ext cx="101994" cy="285750"/>
          </a:xfrm>
          <a:prstGeom prst="rect">
            <a:avLst/>
          </a:prstGeom>
          <a:solidFill>
            <a:srgbClr val="0C8D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Shape 92"/>
          <p:cNvSpPr/>
          <p:nvPr/>
        </p:nvSpPr>
        <p:spPr>
          <a:xfrm>
            <a:off x="2916561" y="4114800"/>
            <a:ext cx="101994" cy="285750"/>
          </a:xfrm>
          <a:prstGeom prst="rect">
            <a:avLst/>
          </a:prstGeom>
          <a:solidFill>
            <a:srgbClr val="0E90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93"/>
          <p:cNvSpPr/>
          <p:nvPr/>
        </p:nvSpPr>
        <p:spPr>
          <a:xfrm>
            <a:off x="3013793" y="4114800"/>
            <a:ext cx="101994" cy="285750"/>
          </a:xfrm>
          <a:prstGeom prst="rect">
            <a:avLst/>
          </a:prstGeom>
          <a:solidFill>
            <a:srgbClr val="0F93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3111025" y="4114800"/>
            <a:ext cx="101994" cy="285750"/>
          </a:xfrm>
          <a:prstGeom prst="rect">
            <a:avLst/>
          </a:prstGeom>
          <a:solidFill>
            <a:srgbClr val="1196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Shape 95"/>
          <p:cNvSpPr/>
          <p:nvPr/>
        </p:nvSpPr>
        <p:spPr>
          <a:xfrm>
            <a:off x="3208257" y="4114800"/>
            <a:ext cx="101994" cy="285750"/>
          </a:xfrm>
          <a:prstGeom prst="rect">
            <a:avLst/>
          </a:prstGeom>
          <a:solidFill>
            <a:srgbClr val="1399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3305489" y="4114800"/>
            <a:ext cx="101994" cy="285750"/>
          </a:xfrm>
          <a:prstGeom prst="rect">
            <a:avLst/>
          </a:prstGeom>
          <a:solidFill>
            <a:srgbClr val="159C7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Shape 97"/>
          <p:cNvSpPr/>
          <p:nvPr/>
        </p:nvSpPr>
        <p:spPr>
          <a:xfrm>
            <a:off x="3402721" y="4114800"/>
            <a:ext cx="101994" cy="285750"/>
          </a:xfrm>
          <a:prstGeom prst="rect">
            <a:avLst/>
          </a:prstGeom>
          <a:solidFill>
            <a:srgbClr val="16A07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3499953" y="4114800"/>
            <a:ext cx="101994" cy="285750"/>
          </a:xfrm>
          <a:prstGeom prst="rect">
            <a:avLst/>
          </a:prstGeom>
          <a:solidFill>
            <a:srgbClr val="18A3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3597185" y="4114800"/>
            <a:ext cx="101994" cy="285750"/>
          </a:xfrm>
          <a:prstGeom prst="rect">
            <a:avLst/>
          </a:prstGeom>
          <a:solidFill>
            <a:srgbClr val="1AA67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3694417" y="4114800"/>
            <a:ext cx="101994" cy="285750"/>
          </a:xfrm>
          <a:prstGeom prst="rect">
            <a:avLst/>
          </a:prstGeom>
          <a:solidFill>
            <a:srgbClr val="1CA98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Shape 101"/>
          <p:cNvSpPr/>
          <p:nvPr/>
        </p:nvSpPr>
        <p:spPr>
          <a:xfrm>
            <a:off x="3791649" y="4114800"/>
            <a:ext cx="101994" cy="285750"/>
          </a:xfrm>
          <a:prstGeom prst="rect">
            <a:avLst/>
          </a:prstGeom>
          <a:solidFill>
            <a:srgbClr val="1DAC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Shape 102"/>
          <p:cNvSpPr/>
          <p:nvPr/>
        </p:nvSpPr>
        <p:spPr>
          <a:xfrm>
            <a:off x="3888881" y="4114800"/>
            <a:ext cx="101994" cy="285750"/>
          </a:xfrm>
          <a:prstGeom prst="rect">
            <a:avLst/>
          </a:prstGeom>
          <a:solidFill>
            <a:srgbClr val="1FAF8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Shape 103"/>
          <p:cNvSpPr/>
          <p:nvPr/>
        </p:nvSpPr>
        <p:spPr>
          <a:xfrm>
            <a:off x="3986113" y="4114800"/>
            <a:ext cx="101994" cy="285750"/>
          </a:xfrm>
          <a:prstGeom prst="rect">
            <a:avLst/>
          </a:prstGeom>
          <a:solidFill>
            <a:srgbClr val="21B38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104"/>
          <p:cNvSpPr/>
          <p:nvPr/>
        </p:nvSpPr>
        <p:spPr>
          <a:xfrm>
            <a:off x="4083345" y="4114800"/>
            <a:ext cx="101994" cy="285750"/>
          </a:xfrm>
          <a:prstGeom prst="rect">
            <a:avLst/>
          </a:prstGeom>
          <a:solidFill>
            <a:srgbClr val="23B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105"/>
          <p:cNvSpPr/>
          <p:nvPr/>
        </p:nvSpPr>
        <p:spPr>
          <a:xfrm>
            <a:off x="4180577" y="4114800"/>
            <a:ext cx="101994" cy="285750"/>
          </a:xfrm>
          <a:prstGeom prst="rect">
            <a:avLst/>
          </a:prstGeom>
          <a:solidFill>
            <a:srgbClr val="24B9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Shape 106"/>
          <p:cNvSpPr/>
          <p:nvPr/>
        </p:nvSpPr>
        <p:spPr>
          <a:xfrm>
            <a:off x="4277809" y="4114800"/>
            <a:ext cx="101994" cy="285750"/>
          </a:xfrm>
          <a:prstGeom prst="rect">
            <a:avLst/>
          </a:prstGeom>
          <a:solidFill>
            <a:srgbClr val="26BC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9" name="Shape 107"/>
          <p:cNvSpPr/>
          <p:nvPr/>
        </p:nvSpPr>
        <p:spPr>
          <a:xfrm>
            <a:off x="4375041" y="4114800"/>
            <a:ext cx="101994" cy="285750"/>
          </a:xfrm>
          <a:prstGeom prst="rect">
            <a:avLst/>
          </a:prstGeom>
          <a:solidFill>
            <a:srgbClr val="28BF9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4472273" y="4114800"/>
            <a:ext cx="101994" cy="285750"/>
          </a:xfrm>
          <a:prstGeom prst="rect">
            <a:avLst/>
          </a:prstGeom>
          <a:solidFill>
            <a:srgbClr val="2AC29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Shape 109"/>
          <p:cNvSpPr/>
          <p:nvPr/>
        </p:nvSpPr>
        <p:spPr>
          <a:xfrm>
            <a:off x="4569505" y="4114800"/>
            <a:ext cx="101994" cy="285750"/>
          </a:xfrm>
          <a:prstGeom prst="rect">
            <a:avLst/>
          </a:prstGeom>
          <a:solidFill>
            <a:srgbClr val="2BC6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Shape 110"/>
          <p:cNvSpPr/>
          <p:nvPr/>
        </p:nvSpPr>
        <p:spPr>
          <a:xfrm>
            <a:off x="4666736" y="4114800"/>
            <a:ext cx="101994" cy="285750"/>
          </a:xfrm>
          <a:prstGeom prst="rect">
            <a:avLst/>
          </a:prstGeom>
          <a:solidFill>
            <a:srgbClr val="2DC99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3" name="Shape 111"/>
          <p:cNvSpPr/>
          <p:nvPr/>
        </p:nvSpPr>
        <p:spPr>
          <a:xfrm>
            <a:off x="4763968" y="4114800"/>
            <a:ext cx="101994" cy="285750"/>
          </a:xfrm>
          <a:prstGeom prst="rect">
            <a:avLst/>
          </a:prstGeom>
          <a:solidFill>
            <a:srgbClr val="2FCC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Shape 112"/>
          <p:cNvSpPr/>
          <p:nvPr/>
        </p:nvSpPr>
        <p:spPr>
          <a:xfrm>
            <a:off x="4861200" y="4114800"/>
            <a:ext cx="101994" cy="285750"/>
          </a:xfrm>
          <a:prstGeom prst="rect">
            <a:avLst/>
          </a:prstGeom>
          <a:solidFill>
            <a:srgbClr val="31CF9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Shape 113"/>
          <p:cNvSpPr/>
          <p:nvPr/>
        </p:nvSpPr>
        <p:spPr>
          <a:xfrm>
            <a:off x="4958432" y="4114800"/>
            <a:ext cx="101994" cy="285750"/>
          </a:xfrm>
          <a:prstGeom prst="rect">
            <a:avLst/>
          </a:prstGeom>
          <a:solidFill>
            <a:srgbClr val="32D2A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Shape 114"/>
          <p:cNvSpPr/>
          <p:nvPr/>
        </p:nvSpPr>
        <p:spPr>
          <a:xfrm>
            <a:off x="5055664" y="4114800"/>
            <a:ext cx="101994" cy="285750"/>
          </a:xfrm>
          <a:prstGeom prst="rect">
            <a:avLst/>
          </a:prstGeom>
          <a:solidFill>
            <a:srgbClr val="34D5A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Text 115"/>
          <p:cNvSpPr/>
          <p:nvPr/>
        </p:nvSpPr>
        <p:spPr>
          <a:xfrm>
            <a:off x="7095948" y="4095750"/>
            <a:ext cx="19049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9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</a:t>
            </a:r>
            <a:endParaRPr lang="en-US" sz="1500" dirty="0"/>
          </a:p>
        </p:txBody>
      </p:sp>
      <p:sp>
        <p:nvSpPr>
          <p:cNvPr id="118" name="Text 116"/>
          <p:cNvSpPr/>
          <p:nvPr/>
        </p:nvSpPr>
        <p:spPr>
          <a:xfrm>
            <a:off x="1009625" y="4857750"/>
            <a:ext cx="62768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185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막대는 EDA에서 확인된 상대적 관계를 개념적으로 표현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8257969" y="1714500"/>
            <a:ext cx="3286043" cy="3714750"/>
          </a:xfrm>
          <a:prstGeom prst="rect">
            <a:avLst/>
          </a:prstGeom>
          <a:solidFill>
            <a:srgbClr val="1023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118"/>
          <p:cNvSpPr/>
          <p:nvPr/>
        </p:nvSpPr>
        <p:spPr>
          <a:xfrm>
            <a:off x="8581810" y="2038350"/>
            <a:ext cx="2638359" cy="20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DE2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TAKEAWAY</a:t>
            </a:r>
            <a:endParaRPr lang="en-US" sz="1050" dirty="0"/>
          </a:p>
        </p:txBody>
      </p:sp>
      <p:sp>
        <p:nvSpPr>
          <p:cNvPr id="121" name="Text 119"/>
          <p:cNvSpPr/>
          <p:nvPr/>
        </p:nvSpPr>
        <p:spPr>
          <a:xfrm>
            <a:off x="8581810" y="2463998"/>
            <a:ext cx="2638359" cy="175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소비량은 단일 요인보다</a:t>
            </a:r>
            <a:endParaRPr lang="en-US" dirty="0"/>
          </a:p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복합적인 운행 조건의</a:t>
            </a:r>
            <a:endParaRPr lang="en-US" dirty="0"/>
          </a:p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상호작용으로 결정된다</a:t>
            </a: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8581810" y="4343400"/>
            <a:ext cx="263835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8D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 관계만 가정하기보다, 비선형성과 변수 간 상호작용을 학습할 수 있는 모델이 필요하다.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647684" y="5867400"/>
            <a:ext cx="1089632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26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특성: 대부분 수치형 · 복잡한 결측 처리 불필요 · 원본 변수의 정보 손실을 최소화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11397122" y="645795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A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50" dirty="0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F1ECA94F-481B-6D4E-C24F-C2E0D3C94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" y="1625600"/>
            <a:ext cx="70485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50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19341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MODEL BENCHMARK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XGBoost가 오차와 설명력 모두에서 가장 우수했다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1638300"/>
            <a:ext cx="6762581" cy="3810000"/>
          </a:xfrm>
          <a:prstGeom prst="rect">
            <a:avLst/>
          </a:prstGeom>
          <a:solidFill>
            <a:srgbClr val="F4F7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6" name="Chart 0"/>
          <p:cNvGraphicFramePr/>
          <p:nvPr/>
        </p:nvGraphicFramePr>
        <p:xfrm>
          <a:off x="876278" y="1866900"/>
          <a:ext cx="6305392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038899" y="1638300"/>
            <a:ext cx="3505112" cy="3810000"/>
          </a:xfrm>
          <a:prstGeom prst="rect">
            <a:avLst/>
          </a:prstGeom>
          <a:solidFill>
            <a:srgbClr val="0D263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362741" y="1962150"/>
            <a:ext cx="121232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732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MODEL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362741" y="2314575"/>
            <a:ext cx="2857429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Regressor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362741" y="3034605"/>
            <a:ext cx="2857429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D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0.947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362741" y="3282107"/>
            <a:ext cx="285742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Linear Regression 0.929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9D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Forest 0.899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62741" y="3777109"/>
            <a:ext cx="285742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비선형 관계와 변수 간 상호작용을 효과적으로 학습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7684" y="5638800"/>
            <a:ext cx="2177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369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0.866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39877" y="5638800"/>
            <a:ext cx="21780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369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0.693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32220" y="5638800"/>
            <a:ext cx="21780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369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0.947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569160" y="6381750"/>
            <a:ext cx="29748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A8C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train/test split · 평가 지표: RMSE, MAE, R²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17963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28313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RECOMMENDATION ALGORITHM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예측값을 속도 전 구간에 적용해 추천 후보를 탐색한다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2028825"/>
            <a:ext cx="1809705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7684" y="2057400"/>
            <a:ext cx="1809705" cy="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19AA7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9130" y="2295525"/>
            <a:ext cx="146681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9130" y="2482155"/>
            <a:ext cx="1466813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조건 입력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9130" y="2746177"/>
            <a:ext cx="1466813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거리·경사·하중·HVAC 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76558" y="2028825"/>
            <a:ext cx="1809705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676558" y="2057400"/>
            <a:ext cx="1809705" cy="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19AA7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8004" y="2295525"/>
            <a:ext cx="146681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8004" y="2482155"/>
            <a:ext cx="1466813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전수 탐색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8004" y="2746177"/>
            <a:ext cx="1466813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20~130km/h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1km/h 단위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05432" y="2028825"/>
            <a:ext cx="1809705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705432" y="2057400"/>
            <a:ext cx="1809705" cy="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19AA7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76878" y="2295525"/>
            <a:ext cx="146681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76878" y="2482155"/>
            <a:ext cx="1466813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예측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76878" y="2746177"/>
            <a:ext cx="1466813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속도의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kWh/100km 산출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734307" y="2028825"/>
            <a:ext cx="1809705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734307" y="2057400"/>
            <a:ext cx="1809705" cy="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19AA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05752" y="2295525"/>
            <a:ext cx="146681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905752" y="2482155"/>
            <a:ext cx="146681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에너지·시간 계산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05752" y="3010198"/>
            <a:ext cx="1466813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반영 후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37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모드별 후보 선택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7684" y="4229100"/>
            <a:ext cx="5143371" cy="1104900"/>
          </a:xfrm>
          <a:prstGeom prst="rect">
            <a:avLst/>
          </a:prstGeom>
          <a:solidFill>
            <a:srgbClr val="1023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33427" y="4457700"/>
            <a:ext cx="4571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61E1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TOTAL ENERGY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33427" y="4686300"/>
            <a:ext cx="457188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Total Energy = Consumption × Distance / 100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640" y="4229100"/>
            <a:ext cx="5143371" cy="1104900"/>
          </a:xfrm>
          <a:prstGeom prst="rect">
            <a:avLst/>
          </a:prstGeom>
          <a:solidFill>
            <a:srgbClr val="1023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686383" y="4457700"/>
            <a:ext cx="4571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61E1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 TIME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686383" y="4686300"/>
            <a:ext cx="457188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 Time = Distance / Speed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647684" y="6153150"/>
            <a:ext cx="1089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2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‘최적 속도’를 직접 예측하지 않고, 속도별 소비량을 제공하는 평가 함수 역할을 한다.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397122" y="645795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A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757387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1338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F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MODE LOGIC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Tolerance는 효율 손실의 한도를 직관적으로 제어한다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7684" y="1619250"/>
            <a:ext cx="10896328" cy="895350"/>
          </a:xfrm>
          <a:prstGeom prst="rect">
            <a:avLst/>
          </a:prstGeom>
          <a:solidFill>
            <a:srgbClr val="1023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524112" y="1866900"/>
                <a:ext cx="2914875" cy="40436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>
                      <m:r>
                        <a:rPr lang="ko-KR" altLang="en-US" sz="2050" b="1" i="1" dirty="0" smtClean="0">
                          <a:solidFill>
                            <a:srgbClr val="5CE5BA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ko-KR" sz="2050" b="1" i="0" dirty="0">
                          <a:solidFill>
                            <a:srgbClr val="5CE5BA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altLang="ko-KR" sz="2050" b="1" i="0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50" b="1" i="0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sSub>
                        <m:sSubPr>
                          <m:ctrlP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ko-KR" altLang="en-US" sz="2050" b="1" i="1" dirty="0">
                              <a:solidFill>
                                <a:srgbClr val="5CE5BA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</m:oMath>
                  </m:oMathPara>
                </a14:m>
                <a:endParaRPr lang="en-US" sz="205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112" y="1866900"/>
                <a:ext cx="2914875" cy="4043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647684" y="2838450"/>
            <a:ext cx="2624072" cy="2362200"/>
          </a:xfrm>
          <a:prstGeom prst="rect">
            <a:avLst/>
          </a:prstGeom>
          <a:solidFill>
            <a:srgbClr val="F1F5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47684" y="2876550"/>
            <a:ext cx="2624072" cy="0"/>
          </a:xfrm>
          <a:prstGeom prst="line">
            <a:avLst/>
          </a:prstGeom>
          <a:solidFill>
            <a:srgbClr val="FFFFFF">
              <a:alpha val="0"/>
            </a:srgbClr>
          </a:solidFill>
          <a:ln w="76200">
            <a:solidFill>
              <a:srgbClr val="A4B8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29" y="3162300"/>
            <a:ext cx="22049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Perfect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57229" y="3486150"/>
            <a:ext cx="220498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7229" y="3725466"/>
            <a:ext cx="2204982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에너지 최소 속도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 기준점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05102" y="2838450"/>
            <a:ext cx="2624072" cy="2362200"/>
          </a:xfrm>
          <a:prstGeom prst="rect">
            <a:avLst/>
          </a:prstGeom>
          <a:solidFill>
            <a:srgbClr val="F1F5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405102" y="2876550"/>
            <a:ext cx="2624072" cy="0"/>
          </a:xfrm>
          <a:prstGeom prst="line">
            <a:avLst/>
          </a:prstGeom>
          <a:solidFill>
            <a:srgbClr val="FFFFFF">
              <a:alpha val="0"/>
            </a:srgbClr>
          </a:solidFill>
          <a:ln w="76200">
            <a:solidFill>
              <a:srgbClr val="18AA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4647" y="3162300"/>
            <a:ext cx="22049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14647" y="3486150"/>
            <a:ext cx="220498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14647" y="3725466"/>
            <a:ext cx="2204982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절약 중심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손실 허용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62521" y="2838450"/>
            <a:ext cx="2624072" cy="2362200"/>
          </a:xfrm>
          <a:prstGeom prst="rect">
            <a:avLst/>
          </a:prstGeom>
          <a:solidFill>
            <a:srgbClr val="F1F5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162521" y="2876550"/>
            <a:ext cx="2624072" cy="0"/>
          </a:xfrm>
          <a:prstGeom prst="line">
            <a:avLst/>
          </a:prstGeom>
          <a:solidFill>
            <a:srgbClr val="FFFFFF">
              <a:alpha val="0"/>
            </a:srgbClr>
          </a:solidFill>
          <a:ln w="76200">
            <a:solidFill>
              <a:srgbClr val="18B8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2066" y="3162300"/>
            <a:ext cx="22049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Balanced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372066" y="3486150"/>
            <a:ext cx="220498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72066" y="3725466"/>
            <a:ext cx="2204982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에너지와 주행시간의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919939" y="2838450"/>
            <a:ext cx="2624072" cy="2362200"/>
          </a:xfrm>
          <a:prstGeom prst="rect">
            <a:avLst/>
          </a:prstGeom>
          <a:solidFill>
            <a:srgbClr val="F1F5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919939" y="2876550"/>
            <a:ext cx="2624072" cy="0"/>
          </a:xfrm>
          <a:prstGeom prst="line">
            <a:avLst/>
          </a:prstGeom>
          <a:solidFill>
            <a:srgbClr val="FFFFFF">
              <a:alpha val="0"/>
            </a:srgbClr>
          </a:solidFill>
          <a:ln w="76200">
            <a:solidFill>
              <a:srgbClr val="F2A04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29484" y="3162300"/>
            <a:ext cx="22049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023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129484" y="3486150"/>
            <a:ext cx="220498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29484" y="3725466"/>
            <a:ext cx="2204982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효율성 중심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F73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넓은 후보 허용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7684" y="6038850"/>
            <a:ext cx="1089632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dirty="0" err="1">
                <a:solidFill>
                  <a:srgbClr val="4057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</a:t>
            </a:r>
            <a:r>
              <a:rPr lang="en-US" sz="1450" dirty="0">
                <a:solidFill>
                  <a:srgbClr val="4057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“최소 에너지보다 몇 %까지 더 쓸 것인가”를 직접 이해하고 선택할 수 있다.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397122" y="645795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A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720762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2315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>
                <a:solidFill>
                  <a:srgbClr val="54E1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· SERVICE PROTOTYPE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2700" b="1">
                <a:solidFill>
                  <a:srgbClr val="F3FB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조건 입력부터 모드별 결과까지 한 화면에서 제공한다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1397122" y="647700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F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50" dirty="0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FF6B013-ED2D-526F-87EA-2647BE5F0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" y="1625600"/>
            <a:ext cx="5588000" cy="28702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2972E7A4-98E4-1036-ACC4-18883E3BC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1625600"/>
            <a:ext cx="4927600" cy="251460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2684A6-396D-4935-C55C-452277E1CB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0" y="4508500"/>
            <a:ext cx="4953000" cy="21844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34FCD5D-2174-400E-BD37-E9D55DA10808}"/>
              </a:ext>
            </a:extLst>
          </p:cNvPr>
          <p:cNvSpPr txBox="1"/>
          <p:nvPr/>
        </p:nvSpPr>
        <p:spPr>
          <a:xfrm>
            <a:off x="660400" y="1333500"/>
            <a:ext cx="279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54E1B5"/>
                </a:solidFill>
                <a:latin typeface="Malgun Gothic"/>
                <a:ea typeface="Malgun Gothic"/>
              </a:rPr>
              <a:t>① 주행 조건 입력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9DC635-6AA4-460C-81A9-B9C467818B80}"/>
              </a:ext>
            </a:extLst>
          </p:cNvPr>
          <p:cNvSpPr txBox="1"/>
          <p:nvPr/>
        </p:nvSpPr>
        <p:spPr>
          <a:xfrm>
            <a:off x="6604000" y="13335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54E1B5"/>
                </a:solidFill>
                <a:latin typeface="Malgun Gothic"/>
                <a:ea typeface="Malgun Gothic"/>
              </a:rPr>
              <a:t>② Eco · Balanced · Fast </a:t>
            </a:r>
            <a:r>
              <a:rPr lang="ko-KR" altLang="en-US" sz="1400" b="1">
                <a:solidFill>
                  <a:srgbClr val="54E1B5"/>
                </a:solidFill>
                <a:latin typeface="Malgun Gothic"/>
                <a:ea typeface="Malgun Gothic"/>
              </a:rPr>
              <a:t>추천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9E0A2B-A3F2-493D-8726-FAD09A50E977}"/>
              </a:ext>
            </a:extLst>
          </p:cNvPr>
          <p:cNvSpPr txBox="1"/>
          <p:nvPr/>
        </p:nvSpPr>
        <p:spPr>
          <a:xfrm>
            <a:off x="6350000" y="4216400"/>
            <a:ext cx="3175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54E1B5"/>
                </a:solidFill>
                <a:latin typeface="Malgun Gothic"/>
                <a:ea typeface="Malgun Gothic"/>
              </a:rPr>
              <a:t>③ 속도</a:t>
            </a:r>
            <a:r>
              <a:rPr lang="en-US" altLang="ko-KR" sz="1400" b="1">
                <a:solidFill>
                  <a:srgbClr val="54E1B5"/>
                </a:solidFill>
                <a:latin typeface="Malgun Gothic"/>
                <a:ea typeface="Malgun Gothic"/>
              </a:rPr>
              <a:t>–</a:t>
            </a:r>
            <a:r>
              <a:rPr lang="ko-KR" altLang="en-US" sz="1400" b="1">
                <a:solidFill>
                  <a:srgbClr val="54E1B5"/>
                </a:solidFill>
                <a:latin typeface="Malgun Gothic"/>
                <a:ea typeface="Malgun Gothic"/>
              </a:rPr>
              <a:t>에너지 프로파일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FC78BA0-B3B6-40C3-B80B-66F4E6A22955}"/>
              </a:ext>
            </a:extLst>
          </p:cNvPr>
          <p:cNvSpPr/>
          <p:nvPr/>
        </p:nvSpPr>
        <p:spPr>
          <a:xfrm>
            <a:off x="660400" y="4876800"/>
            <a:ext cx="5334000" cy="1562100"/>
          </a:xfrm>
          <a:prstGeom prst="rect">
            <a:avLst/>
          </a:prstGeom>
          <a:solidFill>
            <a:srgbClr val="0D26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36B0DB-1FCB-49A7-8596-90257DC6E8CD}"/>
              </a:ext>
            </a:extLst>
          </p:cNvPr>
          <p:cNvSpPr txBox="1"/>
          <p:nvPr/>
        </p:nvSpPr>
        <p:spPr>
          <a:xfrm>
            <a:off x="939800" y="5105400"/>
            <a:ext cx="4800600" cy="1117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>
                <a:solidFill>
                  <a:srgbClr val="C8D8D3"/>
                </a:solidFill>
                <a:latin typeface="Malgun Gothic"/>
                <a:ea typeface="Malgun Gothic"/>
              </a:rPr>
              <a:t>Slider </a:t>
            </a:r>
            <a:r>
              <a:rPr lang="ko-KR" altLang="en-US" sz="1400">
                <a:solidFill>
                  <a:srgbClr val="C8D8D3"/>
                </a:solidFill>
                <a:latin typeface="Malgun Gothic"/>
                <a:ea typeface="Malgun Gothic"/>
              </a:rPr>
              <a:t>기반 주요 조건 설정
학습 데이터 중앙값을 기본값으로 적용
</a:t>
            </a:r>
            <a:r>
              <a:rPr lang="en-US" altLang="ko-KR" sz="1400">
                <a:solidFill>
                  <a:srgbClr val="C8D8D3"/>
                </a:solidFill>
                <a:latin typeface="Malgun Gothic"/>
                <a:ea typeface="Malgun Gothic"/>
              </a:rPr>
              <a:t>Advanced Settings</a:t>
            </a:r>
            <a:r>
              <a:rPr lang="ko-KR" altLang="en-US" sz="1400">
                <a:solidFill>
                  <a:srgbClr val="C8D8D3"/>
                </a:solidFill>
                <a:latin typeface="Malgun Gothic"/>
                <a:ea typeface="Malgun Gothic"/>
              </a:rPr>
              <a:t>에서 세부 변수 조정</a:t>
            </a:r>
          </a:p>
        </p:txBody>
      </p:sp>
    </p:spTree>
    <p:extLst>
      <p:ext uri="{BB962C8B-B14F-4D97-AF65-F5344CB8AC3E}">
        <p14:creationId xmlns:p14="http://schemas.microsoft.com/office/powerpoint/2010/main" val="26568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7684" y="419100"/>
            <a:ext cx="2315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>
                <a:solidFill>
                  <a:srgbClr val="54E1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· LIMITATIONS &amp; ROADMAP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7684" y="704850"/>
            <a:ext cx="106677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2700" b="1">
                <a:solidFill>
                  <a:srgbClr val="F3FB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데이터와 경로 정보를 결합해 서비스로 확장한다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1041400" y="1600200"/>
            <a:ext cx="38099" cy="4127500"/>
          </a:xfrm>
          <a:prstGeom prst="rect">
            <a:avLst/>
          </a:prstGeom>
          <a:solidFill>
            <a:srgbClr val="2D5A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98600" y="1600200"/>
            <a:ext cx="5461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실제 EV 데이터 검증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98600" y="1905000"/>
            <a:ext cx="546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AC4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 센서 기반 일반화 성능 확인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498600" y="2413000"/>
            <a:ext cx="5461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지도·고도·날씨 API 결합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98600" y="2717800"/>
            <a:ext cx="546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AC4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 경사와 외기 온도 자동 반영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498600" y="3225800"/>
            <a:ext cx="5461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차량별 물리 특성 반영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98600" y="3530600"/>
            <a:ext cx="546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AC4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배터리·공기저항·타이어 특성 개인화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498600" y="4038600"/>
            <a:ext cx="5461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FastAPI + Web/Mobile 확장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98600" y="4343400"/>
            <a:ext cx="546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AC4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경로 기반 추천 서비스로 제품화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498600" y="4851400"/>
            <a:ext cx="5461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구간별 최적 속도 프로파일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98600" y="5156200"/>
            <a:ext cx="546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AC4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속도를 넘어 경로 전체의 주행 전략 제안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0400" y="60452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C2D8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EV Speed Advisor는 소비량 예측을 넘어, 사용 목적에 맞는 속도를 선택하게 하는 실용적 의사결정 지원 도구다.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397122" y="6477000"/>
            <a:ext cx="1468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>
                <a:solidFill>
                  <a:srgbClr val="6F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5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F770AA3-CFD4-419C-9DE1-529DE78CF542}"/>
              </a:ext>
            </a:extLst>
          </p:cNvPr>
          <p:cNvSpPr/>
          <p:nvPr/>
        </p:nvSpPr>
        <p:spPr>
          <a:xfrm>
            <a:off x="8064500" y="1600200"/>
            <a:ext cx="3467100" cy="4127500"/>
          </a:xfrm>
          <a:prstGeom prst="rect">
            <a:avLst/>
          </a:prstGeom>
          <a:solidFill>
            <a:srgbClr val="F4F8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BED2CE-BE93-4ED9-A439-FCD1969120E3}"/>
              </a:ext>
            </a:extLst>
          </p:cNvPr>
          <p:cNvSpPr txBox="1"/>
          <p:nvPr/>
        </p:nvSpPr>
        <p:spPr>
          <a:xfrm>
            <a:off x="8382000" y="1905000"/>
            <a:ext cx="279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10232B"/>
                </a:solidFill>
                <a:latin typeface="Malgun Gothic"/>
                <a:ea typeface="Malgun Gothic"/>
              </a:rPr>
              <a:t>현재 검증 한계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F4C82-8D22-44C9-ADB5-60CA4432104C}"/>
              </a:ext>
            </a:extLst>
          </p:cNvPr>
          <p:cNvSpPr txBox="1"/>
          <p:nvPr/>
        </p:nvSpPr>
        <p:spPr>
          <a:xfrm>
            <a:off x="8382000" y="2489200"/>
            <a:ext cx="2794000" cy="2603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4E655E"/>
                </a:solidFill>
                <a:latin typeface="Malgun Gothic"/>
                <a:ea typeface="Malgun Gothic"/>
              </a:rPr>
              <a:t>• Synthetic </a:t>
            </a:r>
            <a:r>
              <a:rPr lang="ko-KR" altLang="en-US" sz="1500">
                <a:solidFill>
                  <a:srgbClr val="4E655E"/>
                </a:solidFill>
                <a:latin typeface="Malgun Gothic"/>
                <a:ea typeface="Malgun Gothic"/>
              </a:rPr>
              <a:t>성격의 학습 데이터
</a:t>
            </a:r>
            <a:r>
              <a:rPr lang="en-US" altLang="ko-KR" sz="1500">
                <a:solidFill>
                  <a:srgbClr val="4E655E"/>
                </a:solidFill>
                <a:latin typeface="Malgun Gothic"/>
                <a:ea typeface="Malgun Gothic"/>
              </a:rPr>
              <a:t>• </a:t>
            </a:r>
            <a:r>
              <a:rPr lang="ko-KR" altLang="en-US" sz="1500">
                <a:solidFill>
                  <a:srgbClr val="4E655E"/>
                </a:solidFill>
                <a:latin typeface="Malgun Gothic"/>
                <a:ea typeface="Malgun Gothic"/>
              </a:rPr>
              <a:t>단일 평균 경사도 입력
</a:t>
            </a:r>
            <a:r>
              <a:rPr lang="en-US" altLang="ko-KR" sz="1500">
                <a:solidFill>
                  <a:srgbClr val="4E655E"/>
                </a:solidFill>
                <a:latin typeface="Malgun Gothic"/>
                <a:ea typeface="Malgun Gothic"/>
              </a:rPr>
              <a:t>• </a:t>
            </a:r>
            <a:r>
              <a:rPr lang="ko-KR" altLang="en-US" sz="1500">
                <a:solidFill>
                  <a:srgbClr val="4E655E"/>
                </a:solidFill>
                <a:latin typeface="Malgun Gothic"/>
                <a:ea typeface="Malgun Gothic"/>
              </a:rPr>
              <a:t>차량별 배터리</a:t>
            </a:r>
            <a:r>
              <a:rPr lang="en-US" altLang="ko-KR" sz="1500">
                <a:solidFill>
                  <a:srgbClr val="4E655E"/>
                </a:solidFill>
                <a:latin typeface="Malgun Gothic"/>
                <a:ea typeface="Malgun Gothic"/>
              </a:rPr>
              <a:t>·</a:t>
            </a:r>
            <a:r>
              <a:rPr lang="ko-KR" altLang="en-US" sz="1500">
                <a:solidFill>
                  <a:srgbClr val="4E655E"/>
                </a:solidFill>
                <a:latin typeface="Malgun Gothic"/>
                <a:ea typeface="Malgun Gothic"/>
              </a:rPr>
              <a:t>공기저항 미반영
</a:t>
            </a:r>
            <a:r>
              <a:rPr lang="en-US" altLang="ko-KR" sz="1500">
                <a:solidFill>
                  <a:srgbClr val="4E655E"/>
                </a:solidFill>
                <a:latin typeface="Malgun Gothic"/>
                <a:ea typeface="Malgun Gothic"/>
              </a:rPr>
              <a:t>• </a:t>
            </a:r>
            <a:r>
              <a:rPr lang="ko-KR" altLang="en-US" sz="1500">
                <a:solidFill>
                  <a:srgbClr val="4E655E"/>
                </a:solidFill>
                <a:latin typeface="Malgun Gothic"/>
                <a:ea typeface="Malgun Gothic"/>
              </a:rPr>
              <a:t>실제 도로 환경 일반화 검증 필요</a:t>
            </a:r>
          </a:p>
        </p:txBody>
      </p:sp>
    </p:spTree>
    <p:extLst>
      <p:ext uri="{BB962C8B-B14F-4D97-AF65-F5344CB8AC3E}">
        <p14:creationId xmlns:p14="http://schemas.microsoft.com/office/powerpoint/2010/main" val="4129257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262FB7A-7B96-434E-91F3-27213DB585E8}">
  <we:reference id="wa200010215" version="2.0.0.0" store="ko-KR" storeType="OMEX"/>
  <we:alternateReferences>
    <we:reference id="wa200010215" version="2.0.0.0" store="wa200010215" storeType="OMEX"/>
  </we:alternateReferences>
  <we:properties>
    <we:property name="bps.codex_control.document_id" value="&quot;fd22d6c4-fa65-4fdf-803e-6b02b55d557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691</Words>
  <Application>Microsoft Office PowerPoint</Application>
  <PresentationFormat>와이드스크린</PresentationFormat>
  <Paragraphs>149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맑은 고딕</vt:lpstr>
      <vt:lpstr>맑은 고딕</vt:lpstr>
      <vt:lpstr>Arial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8</cp:revision>
  <dcterms:created xsi:type="dcterms:W3CDTF">2026-08-28T02:43:21Z</dcterms:created>
  <dcterms:modified xsi:type="dcterms:W3CDTF">2026-08-28T03:04:24Z</dcterms:modified>
</cp:coreProperties>
</file>